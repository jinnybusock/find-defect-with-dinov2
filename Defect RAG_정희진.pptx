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395" r:id="rId7"/>
    <p:sldId id="396" r:id="rId8"/>
    <p:sldId id="399" r:id="rId9"/>
    <p:sldId id="397" r:id="rId10"/>
    <p:sldId id="398" r:id="rId11"/>
    <p:sldId id="403" r:id="rId12"/>
    <p:sldId id="404" r:id="rId13"/>
    <p:sldId id="405" r:id="rId14"/>
    <p:sldId id="400" r:id="rId15"/>
    <p:sldId id="401" r:id="rId16"/>
    <p:sldId id="402" r:id="rId17"/>
    <p:sldId id="406" r:id="rId18"/>
    <p:sldId id="407" r:id="rId19"/>
    <p:sldId id="26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66CCFF"/>
    <a:srgbClr val="B9B9B9"/>
    <a:srgbClr val="C00000"/>
    <a:srgbClr val="640000"/>
    <a:srgbClr val="369496"/>
    <a:srgbClr val="3AB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0" autoAdjust="0"/>
    <p:restoredTop sz="86492" autoAdjust="0"/>
  </p:normalViewPr>
  <p:slideViewPr>
    <p:cSldViewPr snapToGrid="0">
      <p:cViewPr varScale="1">
        <p:scale>
          <a:sx n="92" d="100"/>
          <a:sy n="92" d="100"/>
        </p:scale>
        <p:origin x="924" y="78"/>
      </p:cViewPr>
      <p:guideLst/>
    </p:cSldViewPr>
  </p:slideViewPr>
  <p:outlineViewPr>
    <p:cViewPr>
      <p:scale>
        <a:sx n="33" d="100"/>
        <a:sy n="33" d="100"/>
      </p:scale>
      <p:origin x="0" y="-87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9AC14-5948-4308-AA22-226397F58F47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4A8EE-AA3D-4655-B9B5-1587FC75D9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6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484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164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FAISS</a:t>
            </a:r>
          </a:p>
          <a:p>
            <a:r>
              <a:rPr lang="en-US" altLang="ko-KR" dirty="0"/>
              <a:t> DINOv2</a:t>
            </a:r>
            <a:r>
              <a:rPr lang="ko-KR" altLang="en-US" dirty="0"/>
              <a:t>에서 받은 </a:t>
            </a:r>
            <a:r>
              <a:rPr lang="en-US" altLang="ko-KR" dirty="0"/>
              <a:t>vector </a:t>
            </a:r>
            <a:r>
              <a:rPr lang="ko-KR" altLang="en-US" dirty="0"/>
              <a:t>값 </a:t>
            </a:r>
            <a:r>
              <a:rPr lang="en-US" altLang="ko-KR" dirty="0"/>
              <a:t>clustering</a:t>
            </a:r>
            <a:r>
              <a:rPr lang="ko-KR" altLang="en-US" dirty="0"/>
              <a:t>하여 그룹별로 분류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46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라벨 없이도 이미지 사이의 비슷함 정도를 잘 찾아낼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본질적인 결함 패턴만 찾을 수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뒤에 </a:t>
            </a:r>
            <a:r>
              <a:rPr lang="en-US" altLang="ko-KR" dirty="0"/>
              <a:t>SAM</a:t>
            </a:r>
            <a:r>
              <a:rPr lang="ko-KR" altLang="en-US" dirty="0"/>
              <a:t>에 위치 정보를 넘겨 줄 때 유리함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786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Unknown defect </a:t>
            </a:r>
            <a:r>
              <a:rPr lang="ko-KR" altLang="en-US" dirty="0"/>
              <a:t>대응 가능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학습되지 않은 </a:t>
            </a:r>
            <a:r>
              <a:rPr lang="en-US" altLang="ko-KR" dirty="0"/>
              <a:t>defect</a:t>
            </a:r>
            <a:r>
              <a:rPr lang="ko-KR" altLang="en-US" dirty="0"/>
              <a:t>이라도 앞의 </a:t>
            </a:r>
            <a:r>
              <a:rPr lang="en-US" altLang="ko-KR" dirty="0"/>
              <a:t>DINOv2</a:t>
            </a:r>
            <a:r>
              <a:rPr lang="ko-KR" altLang="en-US" dirty="0"/>
              <a:t>가 특정 위치에 뭔가 있는 것 </a:t>
            </a:r>
            <a:r>
              <a:rPr lang="ko-KR" altLang="en-US" dirty="0" err="1"/>
              <a:t>같다라고</a:t>
            </a:r>
            <a:r>
              <a:rPr lang="ko-KR" altLang="en-US" dirty="0"/>
              <a:t> 좌표 전달 </a:t>
            </a:r>
            <a:r>
              <a:rPr lang="en-US" altLang="ko-KR" dirty="0"/>
              <a:t>-&gt; </a:t>
            </a:r>
            <a:r>
              <a:rPr lang="ko-KR" altLang="en-US" dirty="0"/>
              <a:t>해당 좌표의 물체 모양을 분리할 수 있음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485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Image</a:t>
            </a:r>
            <a:r>
              <a:rPr lang="ko-KR" altLang="en-US" dirty="0"/>
              <a:t> </a:t>
            </a:r>
            <a:r>
              <a:rPr lang="en-US" altLang="ko-KR" dirty="0"/>
              <a:t>encoder-&gt; SAM</a:t>
            </a:r>
            <a:r>
              <a:rPr lang="ko-KR" altLang="en-US" dirty="0"/>
              <a:t>에 가져와서 </a:t>
            </a:r>
            <a:r>
              <a:rPr lang="en-US" altLang="ko-KR" dirty="0"/>
              <a:t>frozen</a:t>
            </a:r>
          </a:p>
          <a:p>
            <a:r>
              <a:rPr lang="en-US" altLang="ko-KR" dirty="0" err="1"/>
              <a:t>E_scene</a:t>
            </a:r>
            <a:r>
              <a:rPr lang="en-US" altLang="ko-KR" dirty="0"/>
              <a:t>- </a:t>
            </a:r>
            <a:r>
              <a:rPr lang="ko-KR" altLang="en-US" dirty="0"/>
              <a:t>신규 결함 이미지</a:t>
            </a:r>
            <a:r>
              <a:rPr lang="en-US" altLang="ko-KR" dirty="0"/>
              <a:t>+ </a:t>
            </a:r>
            <a:r>
              <a:rPr lang="ko-KR" altLang="en-US" dirty="0"/>
              <a:t>마스크 쌍으로 넣어서 학습</a:t>
            </a:r>
            <a:r>
              <a:rPr lang="en-US" altLang="ko-KR" dirty="0"/>
              <a:t>. </a:t>
            </a:r>
            <a:r>
              <a:rPr lang="ko-KR" altLang="en-US" dirty="0"/>
              <a:t>제품의 정상적인 모습의 특징 </a:t>
            </a:r>
            <a:r>
              <a:rPr lang="en-US" altLang="ko-KR" dirty="0"/>
              <a:t>&amp; </a:t>
            </a:r>
            <a:r>
              <a:rPr lang="ko-KR" altLang="en-US" dirty="0"/>
              <a:t>결함의 일반적인 모양이나 특징 학습 </a:t>
            </a:r>
            <a:r>
              <a:rPr lang="en-US" altLang="ko-KR" dirty="0"/>
              <a:t>-&gt; </a:t>
            </a:r>
            <a:r>
              <a:rPr lang="ko-KR" altLang="en-US" dirty="0"/>
              <a:t>맥락 정보 제공하는 역할</a:t>
            </a:r>
            <a:endParaRPr lang="en-US" altLang="ko-KR" dirty="0"/>
          </a:p>
          <a:p>
            <a:r>
              <a:rPr lang="en-US" altLang="ko-KR" dirty="0" err="1"/>
              <a:t>E_scene</a:t>
            </a:r>
            <a:r>
              <a:rPr lang="en-US" altLang="ko-KR" dirty="0"/>
              <a:t> &amp; </a:t>
            </a:r>
            <a:r>
              <a:rPr lang="en-US" altLang="ko-KR" dirty="0" err="1"/>
              <a:t>E_image</a:t>
            </a:r>
            <a:r>
              <a:rPr lang="en-US" altLang="ko-KR" dirty="0"/>
              <a:t> </a:t>
            </a:r>
            <a:r>
              <a:rPr lang="ko-KR" altLang="en-US" dirty="0"/>
              <a:t>융합 </a:t>
            </a:r>
            <a:r>
              <a:rPr lang="en-US" altLang="ko-KR" dirty="0"/>
              <a:t>-&gt; domain </a:t>
            </a:r>
            <a:r>
              <a:rPr lang="ko-KR" altLang="en-US" dirty="0"/>
              <a:t>적응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Adapter </a:t>
            </a:r>
            <a:r>
              <a:rPr lang="ko-KR" altLang="en-US" dirty="0"/>
              <a:t>안 쓰는 이유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오버피팅</a:t>
            </a:r>
            <a:r>
              <a:rPr lang="en-US" altLang="ko-KR" dirty="0"/>
              <a:t>. </a:t>
            </a:r>
            <a:r>
              <a:rPr lang="ko-KR" altLang="en-US" dirty="0"/>
              <a:t>산업 데이터 양이 적음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 err="1"/>
              <a:t>제로샷</a:t>
            </a:r>
            <a:r>
              <a:rPr lang="ko-KR" altLang="en-US" dirty="0"/>
              <a:t> 능력 상실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209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M_sample</a:t>
            </a:r>
            <a:r>
              <a:rPr lang="en-US" altLang="ko-KR" dirty="0"/>
              <a:t> </a:t>
            </a:r>
            <a:r>
              <a:rPr lang="ko-KR" altLang="en-US" dirty="0"/>
              <a:t>부분을 좀 더 집중적으로 보겠다는 것</a:t>
            </a:r>
            <a:r>
              <a:rPr lang="en-US" altLang="ko-KR" dirty="0"/>
              <a:t>(</a:t>
            </a:r>
            <a:r>
              <a:rPr lang="ko-KR" altLang="en-US" dirty="0"/>
              <a:t>위치</a:t>
            </a:r>
            <a:r>
              <a:rPr lang="en-US" altLang="ko-KR" dirty="0"/>
              <a:t>, </a:t>
            </a:r>
            <a:r>
              <a:rPr lang="ko-KR" altLang="en-US" dirty="0"/>
              <a:t>특징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06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931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FAISS</a:t>
            </a:r>
            <a:r>
              <a:rPr lang="ko-KR" altLang="en-US" dirty="0"/>
              <a:t> 인덱스 번호를 통해 비슷한 과거 결함 이미지 찾음</a:t>
            </a:r>
            <a:endParaRPr lang="en-US" altLang="ko-KR" dirty="0"/>
          </a:p>
          <a:p>
            <a:r>
              <a:rPr lang="ko-KR" altLang="en-US" dirty="0"/>
              <a:t>과거 이미지 </a:t>
            </a:r>
            <a:r>
              <a:rPr lang="en-US" altLang="ko-KR" dirty="0"/>
              <a:t>+ </a:t>
            </a:r>
            <a:r>
              <a:rPr lang="ko-KR" altLang="en-US" dirty="0"/>
              <a:t>과거 마스크를 </a:t>
            </a:r>
            <a:r>
              <a:rPr lang="en-US" altLang="ko-KR" dirty="0"/>
              <a:t>Scene encoder</a:t>
            </a:r>
            <a:r>
              <a:rPr lang="ko-KR" altLang="en-US" dirty="0"/>
              <a:t>에 넣어 </a:t>
            </a:r>
            <a:r>
              <a:rPr lang="en-US" altLang="ko-KR" dirty="0"/>
              <a:t>Embedding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ko-KR" altLang="en-US" dirty="0"/>
              <a:t>해당 </a:t>
            </a:r>
            <a:r>
              <a:rPr lang="en-US" altLang="ko-KR" dirty="0"/>
              <a:t>embedding</a:t>
            </a:r>
            <a:r>
              <a:rPr lang="ko-KR" altLang="en-US" dirty="0"/>
              <a:t>을 </a:t>
            </a:r>
            <a:r>
              <a:rPr lang="en-US" altLang="ko-KR" dirty="0"/>
              <a:t>SAM</a:t>
            </a:r>
            <a:r>
              <a:rPr lang="ko-KR" altLang="en-US" dirty="0"/>
              <a:t>에게 주어서 결함 위치 찾고 색칠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새 이미지 전체를 </a:t>
            </a:r>
            <a:r>
              <a:rPr lang="en-US" altLang="ko-KR" dirty="0"/>
              <a:t>grid point</a:t>
            </a:r>
            <a:r>
              <a:rPr lang="ko-KR" altLang="en-US" dirty="0"/>
              <a:t>로 다시 훑게 하거나 새로운 유형으로 분류해서 현장 엔지니어에게 검토하도록 요청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4A8EE-AA3D-4655-B9B5-1587FC75D9F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8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51" y="632631"/>
            <a:ext cx="893429" cy="960863"/>
          </a:xfrm>
          <a:prstGeom prst="rect">
            <a:avLst/>
          </a:prstGeom>
        </p:spPr>
      </p:pic>
      <p:grpSp>
        <p:nvGrpSpPr>
          <p:cNvPr id="8" name="그룹 7"/>
          <p:cNvGrpSpPr/>
          <p:nvPr userDrawn="1"/>
        </p:nvGrpSpPr>
        <p:grpSpPr>
          <a:xfrm>
            <a:off x="669815" y="3098260"/>
            <a:ext cx="10764000" cy="81362"/>
            <a:chOff x="323852" y="3227047"/>
            <a:chExt cx="8530158" cy="72000"/>
          </a:xfrm>
        </p:grpSpPr>
        <p:sp>
          <p:nvSpPr>
            <p:cNvPr id="9" name="직사각형 8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10" name="직사각형 9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11" name="직사각형 10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  <p:grpSp>
        <p:nvGrpSpPr>
          <p:cNvPr id="15" name="Google Shape;101;p16"/>
          <p:cNvGrpSpPr/>
          <p:nvPr userDrawn="1"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16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2245809" y="1468438"/>
            <a:ext cx="876509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"/>
          <p:cNvSpPr txBox="1">
            <a:spLocks noChangeArrowheads="1"/>
          </p:cNvSpPr>
          <p:nvPr userDrawn="1"/>
        </p:nvSpPr>
        <p:spPr bwMode="auto">
          <a:xfrm>
            <a:off x="1020259" y="1155700"/>
            <a:ext cx="10048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ko-KR" altLang="en-US" sz="3200" dirty="0">
                <a:solidFill>
                  <a:srgbClr val="C00000"/>
                </a:solidFill>
              </a:rPr>
              <a:t>목차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19" name="Google Shape;101;p16"/>
          <p:cNvGrpSpPr/>
          <p:nvPr userDrawn="1"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20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sp>
        <p:nvSpPr>
          <p:cNvPr id="22" name="TextBox 21"/>
          <p:cNvSpPr txBox="1"/>
          <p:nvPr userDrawn="1"/>
        </p:nvSpPr>
        <p:spPr>
          <a:xfrm>
            <a:off x="5727564" y="6105626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7BAB9C2-078F-4920-8F54-166158AEAE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5908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>
            <a:spLocks noChangeAspect="1"/>
          </p:cNvSpPr>
          <p:nvPr userDrawn="1"/>
        </p:nvSpPr>
        <p:spPr>
          <a:xfrm>
            <a:off x="0" y="318361"/>
            <a:ext cx="394754" cy="90792"/>
          </a:xfrm>
          <a:prstGeom prst="rect">
            <a:avLst/>
          </a:prstGeom>
          <a:solidFill>
            <a:srgbClr val="E7E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4814" y="319152"/>
            <a:ext cx="570179" cy="90000"/>
            <a:chOff x="464814" y="319152"/>
            <a:chExt cx="570179" cy="90000"/>
          </a:xfrm>
        </p:grpSpPr>
        <p:sp>
          <p:nvSpPr>
            <p:cNvPr id="16" name="타원 15"/>
            <p:cNvSpPr/>
            <p:nvPr/>
          </p:nvSpPr>
          <p:spPr>
            <a:xfrm rot="16200000">
              <a:off x="464814" y="319152"/>
              <a:ext cx="90000" cy="90000"/>
            </a:xfrm>
            <a:prstGeom prst="ellipse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>
                <a:solidFill>
                  <a:srgbClr val="0070C0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 rot="16200000">
              <a:off x="62487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 rot="16200000">
              <a:off x="78493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 rot="16200000">
              <a:off x="944993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22" name="Google Shape;101;p16"/>
          <p:cNvGrpSpPr/>
          <p:nvPr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23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93128" y="1228721"/>
            <a:ext cx="10764000" cy="81362"/>
            <a:chOff x="323852" y="3227047"/>
            <a:chExt cx="8530158" cy="72000"/>
          </a:xfrm>
        </p:grpSpPr>
        <p:sp>
          <p:nvSpPr>
            <p:cNvPr id="26" name="직사각형 25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27564" y="6105626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7BAB9C2-078F-4920-8F54-166158AEAE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4773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>
            <a:spLocks noChangeAspect="1"/>
          </p:cNvSpPr>
          <p:nvPr userDrawn="1"/>
        </p:nvSpPr>
        <p:spPr>
          <a:xfrm>
            <a:off x="0" y="318361"/>
            <a:ext cx="394754" cy="90792"/>
          </a:xfrm>
          <a:prstGeom prst="rect">
            <a:avLst/>
          </a:prstGeom>
          <a:solidFill>
            <a:srgbClr val="E7E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4814" y="319152"/>
            <a:ext cx="570179" cy="90000"/>
            <a:chOff x="464814" y="319152"/>
            <a:chExt cx="570179" cy="90000"/>
          </a:xfrm>
        </p:grpSpPr>
        <p:sp>
          <p:nvSpPr>
            <p:cNvPr id="16" name="타원 15"/>
            <p:cNvSpPr/>
            <p:nvPr/>
          </p:nvSpPr>
          <p:spPr>
            <a:xfrm rot="16200000">
              <a:off x="46481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 rot="16200000">
              <a:off x="624874" y="319152"/>
              <a:ext cx="90000" cy="90000"/>
            </a:xfrm>
            <a:prstGeom prst="ellipse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950">
                <a:solidFill>
                  <a:srgbClr val="0070C0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 rot="16200000">
              <a:off x="78493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 rot="16200000">
              <a:off x="944993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22" name="Google Shape;101;p16"/>
          <p:cNvGrpSpPr/>
          <p:nvPr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23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93128" y="1228721"/>
            <a:ext cx="10764000" cy="81362"/>
            <a:chOff x="323852" y="3227047"/>
            <a:chExt cx="8530158" cy="72000"/>
          </a:xfrm>
        </p:grpSpPr>
        <p:sp>
          <p:nvSpPr>
            <p:cNvPr id="26" name="직사각형 25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27564" y="6105626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7BAB9C2-078F-4920-8F54-166158AEAE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371639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>
            <a:spLocks noChangeAspect="1"/>
          </p:cNvSpPr>
          <p:nvPr userDrawn="1"/>
        </p:nvSpPr>
        <p:spPr>
          <a:xfrm>
            <a:off x="0" y="318361"/>
            <a:ext cx="394754" cy="90792"/>
          </a:xfrm>
          <a:prstGeom prst="rect">
            <a:avLst/>
          </a:prstGeom>
          <a:solidFill>
            <a:srgbClr val="E7E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4814" y="319152"/>
            <a:ext cx="570179" cy="90000"/>
            <a:chOff x="464814" y="319152"/>
            <a:chExt cx="570179" cy="90000"/>
          </a:xfrm>
        </p:grpSpPr>
        <p:sp>
          <p:nvSpPr>
            <p:cNvPr id="16" name="타원 15"/>
            <p:cNvSpPr/>
            <p:nvPr/>
          </p:nvSpPr>
          <p:spPr>
            <a:xfrm rot="16200000">
              <a:off x="46481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 rot="16200000">
              <a:off x="62487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 rot="16200000">
              <a:off x="784934" y="319152"/>
              <a:ext cx="90000" cy="90000"/>
            </a:xfrm>
            <a:prstGeom prst="ellipse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950">
                <a:solidFill>
                  <a:srgbClr val="0070C0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 rot="16200000">
              <a:off x="944993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22" name="Google Shape;101;p16"/>
          <p:cNvGrpSpPr/>
          <p:nvPr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23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93128" y="1228721"/>
            <a:ext cx="10764000" cy="81362"/>
            <a:chOff x="323852" y="3227047"/>
            <a:chExt cx="8530158" cy="72000"/>
          </a:xfrm>
        </p:grpSpPr>
        <p:sp>
          <p:nvSpPr>
            <p:cNvPr id="26" name="직사각형 25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27564" y="6105626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7BAB9C2-078F-4920-8F54-166158AEAE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82197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>
            <a:spLocks noChangeAspect="1"/>
          </p:cNvSpPr>
          <p:nvPr userDrawn="1"/>
        </p:nvSpPr>
        <p:spPr>
          <a:xfrm>
            <a:off x="0" y="318361"/>
            <a:ext cx="394754" cy="90792"/>
          </a:xfrm>
          <a:prstGeom prst="rect">
            <a:avLst/>
          </a:prstGeom>
          <a:solidFill>
            <a:srgbClr val="E7E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grpSp>
        <p:nvGrpSpPr>
          <p:cNvPr id="2" name="그룹 1"/>
          <p:cNvGrpSpPr/>
          <p:nvPr userDrawn="1"/>
        </p:nvGrpSpPr>
        <p:grpSpPr>
          <a:xfrm>
            <a:off x="464814" y="319152"/>
            <a:ext cx="570179" cy="90000"/>
            <a:chOff x="464814" y="319152"/>
            <a:chExt cx="570179" cy="90000"/>
          </a:xfrm>
        </p:grpSpPr>
        <p:sp>
          <p:nvSpPr>
            <p:cNvPr id="16" name="타원 15"/>
            <p:cNvSpPr/>
            <p:nvPr/>
          </p:nvSpPr>
          <p:spPr>
            <a:xfrm rot="16200000">
              <a:off x="46481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7" name="타원 16"/>
            <p:cNvSpPr/>
            <p:nvPr/>
          </p:nvSpPr>
          <p:spPr>
            <a:xfrm rot="16200000">
              <a:off x="62487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 rot="16200000">
              <a:off x="784934" y="319152"/>
              <a:ext cx="90000" cy="90000"/>
            </a:xfrm>
            <a:prstGeom prst="ellipse">
              <a:avLst/>
            </a:prstGeom>
            <a:solidFill>
              <a:srgbClr val="9C9173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 rot="16200000">
              <a:off x="944993" y="319152"/>
              <a:ext cx="90000" cy="90000"/>
            </a:xfrm>
            <a:prstGeom prst="ellipse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1950">
                <a:solidFill>
                  <a:srgbClr val="0070C0"/>
                </a:solidFill>
              </a:endParaRPr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22" name="Google Shape;101;p16"/>
          <p:cNvGrpSpPr/>
          <p:nvPr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23" name="Google Shape;102;p16"/>
            <p:cNvPicPr preferRelativeResize="0"/>
            <p:nvPr/>
          </p:nvPicPr>
          <p:blipFill rotWithShape="1">
            <a:blip r:embed="rId3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493128" y="1228721"/>
            <a:ext cx="10764000" cy="81362"/>
            <a:chOff x="323852" y="3227047"/>
            <a:chExt cx="8530158" cy="72000"/>
          </a:xfrm>
        </p:grpSpPr>
        <p:sp>
          <p:nvSpPr>
            <p:cNvPr id="26" name="직사각형 25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27" name="직사각형 26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727564" y="6105626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17BAB9C2-078F-4920-8F54-166158AEAEE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180862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695" y="1336286"/>
            <a:ext cx="1360363" cy="146304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57784" y="6076782"/>
            <a:ext cx="2000228" cy="330471"/>
          </a:xfrm>
          <a:prstGeom prst="rect">
            <a:avLst/>
          </a:prstGeom>
        </p:spPr>
      </p:pic>
      <p:grpSp>
        <p:nvGrpSpPr>
          <p:cNvPr id="14" name="Google Shape;101;p16"/>
          <p:cNvGrpSpPr/>
          <p:nvPr userDrawn="1"/>
        </p:nvGrpSpPr>
        <p:grpSpPr>
          <a:xfrm>
            <a:off x="516367" y="6099444"/>
            <a:ext cx="2495877" cy="335580"/>
            <a:chOff x="9718671" y="111967"/>
            <a:chExt cx="2495877" cy="335580"/>
          </a:xfrm>
        </p:grpSpPr>
        <p:pic>
          <p:nvPicPr>
            <p:cNvPr id="15" name="Google Shape;102;p16"/>
            <p:cNvPicPr preferRelativeResize="0"/>
            <p:nvPr/>
          </p:nvPicPr>
          <p:blipFill rotWithShape="1">
            <a:blip r:embed="rId4">
              <a:alphaModFix/>
            </a:blip>
            <a:srcRect t="2243" r="83842"/>
            <a:stretch/>
          </p:blipFill>
          <p:spPr>
            <a:xfrm>
              <a:off x="9718671" y="111967"/>
              <a:ext cx="339732" cy="335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03;p16"/>
            <p:cNvSpPr txBox="1"/>
            <p:nvPr/>
          </p:nvSpPr>
          <p:spPr>
            <a:xfrm>
              <a:off x="10087248" y="111976"/>
              <a:ext cx="2127300" cy="307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FF0000"/>
                  </a:solidFill>
                  <a:latin typeface="Helvetica" panose="020B0604020202020204" pitchFamily="34" charset="0"/>
                  <a:ea typeface="Arial"/>
                  <a:cs typeface="Helvetica" panose="020B0604020202020204" pitchFamily="34" charset="0"/>
                  <a:sym typeface="Arial"/>
                </a:rPr>
                <a:t>ATI CONFIDENTIAL</a:t>
              </a:r>
              <a:endParaRPr sz="1400" b="1" i="0" u="none" strike="noStrike" cap="none" dirty="0">
                <a:solidFill>
                  <a:srgbClr val="FF0000"/>
                </a:solidFill>
                <a:latin typeface="Helvetica" panose="020B0604020202020204" pitchFamily="34" charset="0"/>
                <a:ea typeface="Arial"/>
                <a:cs typeface="Helvetica" panose="020B0604020202020204" pitchFamily="34" charset="0"/>
                <a:sym typeface="Arial"/>
              </a:endParaRPr>
            </a:p>
          </p:txBody>
        </p:sp>
      </p:grpSp>
      <p:grpSp>
        <p:nvGrpSpPr>
          <p:cNvPr id="17" name="그룹 16"/>
          <p:cNvGrpSpPr/>
          <p:nvPr userDrawn="1"/>
        </p:nvGrpSpPr>
        <p:grpSpPr>
          <a:xfrm>
            <a:off x="493128" y="3228971"/>
            <a:ext cx="10764000" cy="81362"/>
            <a:chOff x="323852" y="3227047"/>
            <a:chExt cx="8530158" cy="72000"/>
          </a:xfrm>
        </p:grpSpPr>
        <p:sp>
          <p:nvSpPr>
            <p:cNvPr id="18" name="직사각형 17"/>
            <p:cNvSpPr>
              <a:spLocks noChangeAspect="1"/>
            </p:cNvSpPr>
            <p:nvPr userDrawn="1"/>
          </p:nvSpPr>
          <p:spPr>
            <a:xfrm>
              <a:off x="323852" y="3227047"/>
              <a:ext cx="8016239" cy="72000"/>
            </a:xfrm>
            <a:prstGeom prst="rect">
              <a:avLst/>
            </a:prstGeom>
            <a:solidFill>
              <a:srgbClr val="B71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/>
            </a:p>
          </p:txBody>
        </p:sp>
        <p:sp>
          <p:nvSpPr>
            <p:cNvPr id="19" name="직사각형 18"/>
            <p:cNvSpPr/>
            <p:nvPr userDrawn="1"/>
          </p:nvSpPr>
          <p:spPr>
            <a:xfrm>
              <a:off x="8244408" y="3227047"/>
              <a:ext cx="409576" cy="72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  <p:sp>
          <p:nvSpPr>
            <p:cNvPr id="20" name="직사각형 19"/>
            <p:cNvSpPr/>
            <p:nvPr userDrawn="1"/>
          </p:nvSpPr>
          <p:spPr>
            <a:xfrm>
              <a:off x="8653985" y="3227047"/>
              <a:ext cx="200025" cy="72000"/>
            </a:xfrm>
            <a:prstGeom prst="rect">
              <a:avLst/>
            </a:prstGeom>
            <a:solidFill>
              <a:srgbClr val="9C91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38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64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95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634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25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203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611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495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B075E4-7CE0-4FE2-802C-22EBEE6E6443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8F9842-C816-4F12-B51C-B1D2A1758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63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41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594515" y="2312117"/>
            <a:ext cx="2331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3200" dirty="0">
                <a:solidFill>
                  <a:srgbClr val="C00000"/>
                </a:solidFill>
              </a:rPr>
              <a:t>Defect RAG</a:t>
            </a:r>
            <a:endParaRPr lang="ko-KR" altLang="en-US" sz="3200" dirty="0">
              <a:solidFill>
                <a:srgbClr val="C00000"/>
              </a:solidFill>
            </a:endParaRPr>
          </a:p>
        </p:txBody>
      </p:sp>
      <p:sp>
        <p:nvSpPr>
          <p:cNvPr id="17" name="TextBox 4"/>
          <p:cNvSpPr txBox="1">
            <a:spLocks noChangeArrowheads="1"/>
          </p:cNvSpPr>
          <p:nvPr/>
        </p:nvSpPr>
        <p:spPr bwMode="auto">
          <a:xfrm>
            <a:off x="676165" y="3244000"/>
            <a:ext cx="9316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1200" dirty="0">
                <a:solidFill>
                  <a:srgbClr val="C00000"/>
                </a:solidFill>
              </a:rPr>
              <a:t>2026.01.14</a:t>
            </a:r>
            <a:endParaRPr lang="ko-KR" altLang="en-US" sz="12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04B79D-22F6-8924-125D-FD826FA080FC}"/>
              </a:ext>
            </a:extLst>
          </p:cNvPr>
          <p:cNvSpPr txBox="1"/>
          <p:nvPr/>
        </p:nvSpPr>
        <p:spPr>
          <a:xfrm>
            <a:off x="9712037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계측팀</a:t>
            </a:r>
            <a:r>
              <a:rPr lang="ko-KR" altLang="en-US" dirty="0"/>
              <a:t> 정희진</a:t>
            </a:r>
          </a:p>
        </p:txBody>
      </p:sp>
    </p:spTree>
    <p:extLst>
      <p:ext uri="{BB962C8B-B14F-4D97-AF65-F5344CB8AC3E}">
        <p14:creationId xmlns:p14="http://schemas.microsoft.com/office/powerpoint/2010/main" val="323332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7173594" y="1680032"/>
            <a:ext cx="16257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kumimoji="0" lang="en-US" altLang="ko-KR" sz="2400" dirty="0">
                <a:solidFill>
                  <a:srgbClr val="C00000"/>
                </a:solidFill>
              </a:rPr>
              <a:t>1. </a:t>
            </a:r>
            <a:r>
              <a:rPr lang="en-US" altLang="ko-KR" sz="2400" dirty="0">
                <a:solidFill>
                  <a:srgbClr val="C00000"/>
                </a:solidFill>
              </a:rPr>
              <a:t>Pipeline</a:t>
            </a:r>
            <a:endParaRPr kumimoji="0" lang="ko-KR" altLang="en-US" sz="2400" dirty="0">
              <a:solidFill>
                <a:srgbClr val="C00000"/>
              </a:solidFill>
            </a:endParaRP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AEFF1A65-D47F-ED9A-085B-F1A494886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594" y="2898702"/>
            <a:ext cx="22818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2400" dirty="0">
                <a:solidFill>
                  <a:srgbClr val="C00000"/>
                </a:solidFill>
              </a:rPr>
              <a:t>3</a:t>
            </a:r>
            <a:r>
              <a:rPr kumimoji="0" lang="en-US" altLang="ko-KR" sz="2400" dirty="0">
                <a:solidFill>
                  <a:srgbClr val="C00000"/>
                </a:solidFill>
              </a:rPr>
              <a:t>. </a:t>
            </a:r>
            <a:r>
              <a:rPr lang="en-US" altLang="ko-KR" sz="2400" dirty="0">
                <a:solidFill>
                  <a:srgbClr val="C00000"/>
                </a:solidFill>
              </a:rPr>
              <a:t>Prompt</a:t>
            </a:r>
            <a:r>
              <a:rPr lang="ko-KR" altLang="en-US" sz="2400" dirty="0">
                <a:solidFill>
                  <a:srgbClr val="C00000"/>
                </a:solidFill>
              </a:rPr>
              <a:t> 규칙</a:t>
            </a:r>
            <a:endParaRPr kumimoji="0" lang="ko-KR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C1BB9EFA-A9BF-8C2C-8C51-EA11851A5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594" y="2294780"/>
            <a:ext cx="2374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r>
              <a:rPr lang="en-US" altLang="ko-KR" sz="2400" dirty="0">
                <a:solidFill>
                  <a:srgbClr val="C00000"/>
                </a:solidFill>
              </a:rPr>
              <a:t>2. Data</a:t>
            </a:r>
            <a:r>
              <a:rPr lang="ko-KR" altLang="en-US" sz="2400" dirty="0">
                <a:solidFill>
                  <a:srgbClr val="C00000"/>
                </a:solidFill>
              </a:rPr>
              <a:t> </a:t>
            </a:r>
            <a:r>
              <a:rPr lang="en-US" altLang="ko-KR" sz="2400" dirty="0">
                <a:solidFill>
                  <a:srgbClr val="C00000"/>
                </a:solidFill>
              </a:rPr>
              <a:t>Schema</a:t>
            </a:r>
            <a:endParaRPr kumimoji="0" lang="ko-KR" alt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08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41DC51-1960-1CAB-FE74-A55ACBA2ADAD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D09D65-55AF-7977-5FD9-B2B2CDB1C50B}"/>
              </a:ext>
            </a:extLst>
          </p:cNvPr>
          <p:cNvSpPr txBox="1"/>
          <p:nvPr/>
        </p:nvSpPr>
        <p:spPr>
          <a:xfrm>
            <a:off x="1894900" y="1804602"/>
            <a:ext cx="2330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Feature Extraction </a:t>
            </a:r>
          </a:p>
          <a:p>
            <a:pPr algn="ctr"/>
            <a:r>
              <a:rPr lang="en-US" altLang="ko-KR" b="1" dirty="0"/>
              <a:t>(</a:t>
            </a:r>
            <a:r>
              <a:rPr lang="ko-KR" altLang="en-US" b="1" dirty="0"/>
              <a:t>특징 추출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B5B09-E37E-98C1-AA6C-06B0081BC109}"/>
              </a:ext>
            </a:extLst>
          </p:cNvPr>
          <p:cNvSpPr txBox="1"/>
          <p:nvPr/>
        </p:nvSpPr>
        <p:spPr>
          <a:xfrm>
            <a:off x="5169477" y="1940158"/>
            <a:ext cx="1853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Retrieval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E466D-CD59-4DE3-EAA8-ABE8E330A9F7}"/>
              </a:ext>
            </a:extLst>
          </p:cNvPr>
          <p:cNvSpPr txBox="1"/>
          <p:nvPr/>
        </p:nvSpPr>
        <p:spPr>
          <a:xfrm>
            <a:off x="7966364" y="1939686"/>
            <a:ext cx="3266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Augmented Segmentation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0A9954-8951-A0C4-E1E3-AA052DF95205}"/>
              </a:ext>
            </a:extLst>
          </p:cNvPr>
          <p:cNvSpPr/>
          <p:nvPr/>
        </p:nvSpPr>
        <p:spPr>
          <a:xfrm>
            <a:off x="1754866" y="3486607"/>
            <a:ext cx="5539551" cy="11061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44CD1-1922-E367-8510-9297D27E544A}"/>
              </a:ext>
            </a:extLst>
          </p:cNvPr>
          <p:cNvSpPr txBox="1"/>
          <p:nvPr/>
        </p:nvSpPr>
        <p:spPr>
          <a:xfrm>
            <a:off x="1632378" y="2614968"/>
            <a:ext cx="285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입력 이미지의 벡터 추출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630162-A7B6-1C31-B96B-AF30F585BB0A}"/>
              </a:ext>
            </a:extLst>
          </p:cNvPr>
          <p:cNvSpPr txBox="1"/>
          <p:nvPr/>
        </p:nvSpPr>
        <p:spPr>
          <a:xfrm>
            <a:off x="4031672" y="3850289"/>
            <a:ext cx="108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DINOv2</a:t>
            </a:r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6562BA-15CF-D1EA-9869-4E4F26352FE9}"/>
              </a:ext>
            </a:extLst>
          </p:cNvPr>
          <p:cNvSpPr/>
          <p:nvPr/>
        </p:nvSpPr>
        <p:spPr>
          <a:xfrm>
            <a:off x="7966364" y="3486607"/>
            <a:ext cx="2950157" cy="11061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608389-FEEA-2B88-33FF-A70FB2CA6E9E}"/>
              </a:ext>
            </a:extLst>
          </p:cNvPr>
          <p:cNvSpPr txBox="1"/>
          <p:nvPr/>
        </p:nvSpPr>
        <p:spPr>
          <a:xfrm>
            <a:off x="9056185" y="3850289"/>
            <a:ext cx="86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SAM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0941B-0C9D-CEB7-0691-227333033BD8}"/>
              </a:ext>
            </a:extLst>
          </p:cNvPr>
          <p:cNvSpPr txBox="1"/>
          <p:nvPr/>
        </p:nvSpPr>
        <p:spPr>
          <a:xfrm>
            <a:off x="4678501" y="2452643"/>
            <a:ext cx="2855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대응하는 </a:t>
            </a:r>
            <a:r>
              <a:rPr lang="en-US" altLang="ko-KR" dirty="0"/>
              <a:t>Segmentation</a:t>
            </a:r>
          </a:p>
          <a:p>
            <a:pPr algn="ctr"/>
            <a:r>
              <a:rPr lang="en-US" altLang="ko-KR" dirty="0"/>
              <a:t>Mask </a:t>
            </a:r>
            <a:r>
              <a:rPr lang="ko-KR" altLang="en-US" dirty="0"/>
              <a:t>가져오기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96CFA-4AE4-5BAD-2914-59330E85C7F2}"/>
              </a:ext>
            </a:extLst>
          </p:cNvPr>
          <p:cNvSpPr txBox="1"/>
          <p:nvPr/>
        </p:nvSpPr>
        <p:spPr>
          <a:xfrm>
            <a:off x="8060743" y="2450933"/>
            <a:ext cx="285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입력 이미지의 결함 색칠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089D178-6485-3D62-EFA8-A566E909BD58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4225635" y="2124824"/>
            <a:ext cx="943842" cy="29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415164E-43C0-50CF-A61D-773F6D4D7560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7022522" y="2124352"/>
            <a:ext cx="943842" cy="4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98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D8F11-6BDE-AE7C-4D56-EF7AC6D0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887B7-A493-C62F-1411-CBCA227E9489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3E9D1-3DAC-3581-7585-F7A78A6AF547}"/>
              </a:ext>
            </a:extLst>
          </p:cNvPr>
          <p:cNvSpPr txBox="1"/>
          <p:nvPr/>
        </p:nvSpPr>
        <p:spPr>
          <a:xfrm>
            <a:off x="422856" y="1403010"/>
            <a:ext cx="3338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Chunking – Tiling &amp; Overlap</a:t>
            </a:r>
            <a:endParaRPr lang="ko-KR" altLang="en-US" b="1" dirty="0"/>
          </a:p>
        </p:txBody>
      </p:sp>
      <p:pic>
        <p:nvPicPr>
          <p:cNvPr id="1026" name="Picture 2" descr="Wafer (electronics) - Wikipedia">
            <a:extLst>
              <a:ext uri="{FF2B5EF4-FFF2-40B4-BE49-F238E27FC236}">
                <a16:creationId xmlns:a16="http://schemas.microsoft.com/office/drawing/2014/main" id="{491E7EC4-B4FC-8F52-9EB0-861D463C5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83" y="2191184"/>
            <a:ext cx="2976562" cy="297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6D2A0A-4734-172C-B4AA-B16CDAA90744}"/>
              </a:ext>
            </a:extLst>
          </p:cNvPr>
          <p:cNvSpPr txBox="1"/>
          <p:nvPr/>
        </p:nvSpPr>
        <p:spPr>
          <a:xfrm>
            <a:off x="1239332" y="5167746"/>
            <a:ext cx="2213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10,000 x 10,000 pixel</a:t>
            </a:r>
            <a:endParaRPr lang="ko-KR" altLang="en-US" b="1" dirty="0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6D09A90-10B5-863F-F249-CF572C4DEBA9}"/>
              </a:ext>
            </a:extLst>
          </p:cNvPr>
          <p:cNvSpPr/>
          <p:nvPr/>
        </p:nvSpPr>
        <p:spPr>
          <a:xfrm>
            <a:off x="4187536" y="3429000"/>
            <a:ext cx="116378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13FD1-3386-6FB3-E110-5019A9BCD581}"/>
              </a:ext>
            </a:extLst>
          </p:cNvPr>
          <p:cNvSpPr txBox="1"/>
          <p:nvPr/>
        </p:nvSpPr>
        <p:spPr>
          <a:xfrm>
            <a:off x="4203671" y="3059668"/>
            <a:ext cx="97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Tiling</a:t>
            </a:r>
            <a:endParaRPr lang="ko-KR" altLang="en-US" b="1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67BB2BC-9036-3064-807E-E68BBA10238A}"/>
              </a:ext>
            </a:extLst>
          </p:cNvPr>
          <p:cNvSpPr/>
          <p:nvPr/>
        </p:nvSpPr>
        <p:spPr>
          <a:xfrm rot="19582882">
            <a:off x="2034138" y="3511102"/>
            <a:ext cx="1724891" cy="31172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2" descr="Wafer (electronics) - Wikipedia">
            <a:extLst>
              <a:ext uri="{FF2B5EF4-FFF2-40B4-BE49-F238E27FC236}">
                <a16:creationId xmlns:a16="http://schemas.microsoft.com/office/drawing/2014/main" id="{390D7086-5F2D-D12D-0EDB-E68CEED1E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609" y="2191184"/>
            <a:ext cx="2976562" cy="2976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F25B3511-3C9D-C4F1-BD02-91D5391A1DF0}"/>
              </a:ext>
            </a:extLst>
          </p:cNvPr>
          <p:cNvSpPr/>
          <p:nvPr/>
        </p:nvSpPr>
        <p:spPr>
          <a:xfrm rot="19582882">
            <a:off x="6881064" y="3511102"/>
            <a:ext cx="1724891" cy="31172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8596CD-034D-2DEC-B66B-7B215D87A565}"/>
              </a:ext>
            </a:extLst>
          </p:cNvPr>
          <p:cNvCxnSpPr>
            <a:cxnSpLocks/>
          </p:cNvCxnSpPr>
          <p:nvPr/>
        </p:nvCxnSpPr>
        <p:spPr>
          <a:xfrm>
            <a:off x="7024255" y="2191184"/>
            <a:ext cx="0" cy="29765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BB44381-50FC-2138-EBF7-188018347699}"/>
              </a:ext>
            </a:extLst>
          </p:cNvPr>
          <p:cNvCxnSpPr>
            <a:cxnSpLocks/>
          </p:cNvCxnSpPr>
          <p:nvPr/>
        </p:nvCxnSpPr>
        <p:spPr>
          <a:xfrm>
            <a:off x="7192890" y="2191184"/>
            <a:ext cx="0" cy="29765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889F38F-D8B8-84FB-62B5-7E601410DF04}"/>
              </a:ext>
            </a:extLst>
          </p:cNvPr>
          <p:cNvCxnSpPr>
            <a:cxnSpLocks/>
          </p:cNvCxnSpPr>
          <p:nvPr/>
        </p:nvCxnSpPr>
        <p:spPr>
          <a:xfrm>
            <a:off x="7374082" y="2191184"/>
            <a:ext cx="0" cy="29765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28EE8F0-B178-A551-A253-98472BCB1BE6}"/>
              </a:ext>
            </a:extLst>
          </p:cNvPr>
          <p:cNvCxnSpPr>
            <a:cxnSpLocks/>
          </p:cNvCxnSpPr>
          <p:nvPr/>
        </p:nvCxnSpPr>
        <p:spPr>
          <a:xfrm>
            <a:off x="6833755" y="2322802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A9C71F8-C87B-2253-B159-2C61152582AD}"/>
              </a:ext>
            </a:extLst>
          </p:cNvPr>
          <p:cNvCxnSpPr>
            <a:cxnSpLocks/>
          </p:cNvCxnSpPr>
          <p:nvPr/>
        </p:nvCxnSpPr>
        <p:spPr>
          <a:xfrm>
            <a:off x="6636328" y="2322802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7C483EC-6B9C-F143-57E4-BABE257714DB}"/>
              </a:ext>
            </a:extLst>
          </p:cNvPr>
          <p:cNvCxnSpPr>
            <a:cxnSpLocks/>
          </p:cNvCxnSpPr>
          <p:nvPr/>
        </p:nvCxnSpPr>
        <p:spPr>
          <a:xfrm>
            <a:off x="6459683" y="2322802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89FA4BF-0A92-3C54-5511-D8BBBC8F24A0}"/>
              </a:ext>
            </a:extLst>
          </p:cNvPr>
          <p:cNvCxnSpPr>
            <a:cxnSpLocks/>
          </p:cNvCxnSpPr>
          <p:nvPr/>
        </p:nvCxnSpPr>
        <p:spPr>
          <a:xfrm>
            <a:off x="7588829" y="2357438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1512A40-D1C4-DBA1-26D3-645C942B8689}"/>
              </a:ext>
            </a:extLst>
          </p:cNvPr>
          <p:cNvCxnSpPr>
            <a:cxnSpLocks/>
          </p:cNvCxnSpPr>
          <p:nvPr/>
        </p:nvCxnSpPr>
        <p:spPr>
          <a:xfrm>
            <a:off x="7743509" y="2376033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58A3A391-1011-976E-EAC9-3A0D691B9D27}"/>
              </a:ext>
            </a:extLst>
          </p:cNvPr>
          <p:cNvCxnSpPr>
            <a:cxnSpLocks/>
          </p:cNvCxnSpPr>
          <p:nvPr/>
        </p:nvCxnSpPr>
        <p:spPr>
          <a:xfrm>
            <a:off x="7931728" y="2322801"/>
            <a:ext cx="0" cy="26440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54BFBD9-6805-57F8-FB18-3909A576DB50}"/>
              </a:ext>
            </a:extLst>
          </p:cNvPr>
          <p:cNvCxnSpPr>
            <a:cxnSpLocks/>
          </p:cNvCxnSpPr>
          <p:nvPr/>
        </p:nvCxnSpPr>
        <p:spPr>
          <a:xfrm>
            <a:off x="6269183" y="2523693"/>
            <a:ext cx="0" cy="22769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BBACB78-2098-E7C6-DCE3-5170203F864A}"/>
              </a:ext>
            </a:extLst>
          </p:cNvPr>
          <p:cNvCxnSpPr>
            <a:cxnSpLocks/>
          </p:cNvCxnSpPr>
          <p:nvPr/>
        </p:nvCxnSpPr>
        <p:spPr>
          <a:xfrm>
            <a:off x="8136083" y="2559605"/>
            <a:ext cx="0" cy="22769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7956DDF-192B-5610-87DA-6B3AF4E69704}"/>
              </a:ext>
            </a:extLst>
          </p:cNvPr>
          <p:cNvCxnSpPr>
            <a:cxnSpLocks/>
          </p:cNvCxnSpPr>
          <p:nvPr/>
        </p:nvCxnSpPr>
        <p:spPr>
          <a:xfrm>
            <a:off x="6096000" y="2724584"/>
            <a:ext cx="0" cy="18266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9EE3D6E-7A8E-A098-354D-9C68201005E1}"/>
              </a:ext>
            </a:extLst>
          </p:cNvPr>
          <p:cNvCxnSpPr>
            <a:cxnSpLocks/>
          </p:cNvCxnSpPr>
          <p:nvPr/>
        </p:nvCxnSpPr>
        <p:spPr>
          <a:xfrm>
            <a:off x="8316191" y="2784741"/>
            <a:ext cx="0" cy="182663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B61321C-2DF4-25A9-82B7-10D05C681874}"/>
              </a:ext>
            </a:extLst>
          </p:cNvPr>
          <p:cNvCxnSpPr>
            <a:cxnSpLocks/>
          </p:cNvCxnSpPr>
          <p:nvPr/>
        </p:nvCxnSpPr>
        <p:spPr>
          <a:xfrm>
            <a:off x="5915891" y="2939329"/>
            <a:ext cx="0" cy="1435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CC01226-B924-8303-2A8F-763AEA470C50}"/>
              </a:ext>
            </a:extLst>
          </p:cNvPr>
          <p:cNvCxnSpPr>
            <a:cxnSpLocks/>
          </p:cNvCxnSpPr>
          <p:nvPr/>
        </p:nvCxnSpPr>
        <p:spPr>
          <a:xfrm>
            <a:off x="8468591" y="2980436"/>
            <a:ext cx="0" cy="14352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09B1CC2-8819-A59F-6F7E-2C452A8D912A}"/>
              </a:ext>
            </a:extLst>
          </p:cNvPr>
          <p:cNvCxnSpPr>
            <a:cxnSpLocks/>
          </p:cNvCxnSpPr>
          <p:nvPr/>
        </p:nvCxnSpPr>
        <p:spPr>
          <a:xfrm flipV="1">
            <a:off x="5922818" y="3656951"/>
            <a:ext cx="2545773" cy="41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BC4CAAF-EF74-B108-874B-A063D3F815A8}"/>
              </a:ext>
            </a:extLst>
          </p:cNvPr>
          <p:cNvCxnSpPr>
            <a:cxnSpLocks/>
          </p:cNvCxnSpPr>
          <p:nvPr/>
        </p:nvCxnSpPr>
        <p:spPr>
          <a:xfrm flipV="1">
            <a:off x="5889983" y="3470143"/>
            <a:ext cx="2578608" cy="55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7F1E8B0-5C84-4AB9-C844-57CE4F43258D}"/>
              </a:ext>
            </a:extLst>
          </p:cNvPr>
          <p:cNvCxnSpPr>
            <a:cxnSpLocks/>
          </p:cNvCxnSpPr>
          <p:nvPr/>
        </p:nvCxnSpPr>
        <p:spPr>
          <a:xfrm flipV="1">
            <a:off x="5920003" y="3278733"/>
            <a:ext cx="2545773" cy="4110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4E8CBDB-73F4-A315-F4C0-822D32389ACA}"/>
              </a:ext>
            </a:extLst>
          </p:cNvPr>
          <p:cNvCxnSpPr>
            <a:cxnSpLocks/>
          </p:cNvCxnSpPr>
          <p:nvPr/>
        </p:nvCxnSpPr>
        <p:spPr>
          <a:xfrm flipV="1">
            <a:off x="5941800" y="3128430"/>
            <a:ext cx="2523976" cy="344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2FC6D72-5646-1A9C-97DE-CA61F5341FF7}"/>
              </a:ext>
            </a:extLst>
          </p:cNvPr>
          <p:cNvCxnSpPr>
            <a:cxnSpLocks/>
          </p:cNvCxnSpPr>
          <p:nvPr/>
        </p:nvCxnSpPr>
        <p:spPr>
          <a:xfrm>
            <a:off x="5906400" y="3839935"/>
            <a:ext cx="2565007" cy="36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9331FF5-77F9-E1C6-9C5D-64BC35ACCE38}"/>
              </a:ext>
            </a:extLst>
          </p:cNvPr>
          <p:cNvCxnSpPr>
            <a:cxnSpLocks/>
          </p:cNvCxnSpPr>
          <p:nvPr/>
        </p:nvCxnSpPr>
        <p:spPr>
          <a:xfrm flipV="1">
            <a:off x="5878692" y="4023799"/>
            <a:ext cx="2669308" cy="137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21113339-0CF4-C268-BBD0-1E9ACD984D85}"/>
              </a:ext>
            </a:extLst>
          </p:cNvPr>
          <p:cNvCxnSpPr>
            <a:cxnSpLocks/>
          </p:cNvCxnSpPr>
          <p:nvPr/>
        </p:nvCxnSpPr>
        <p:spPr>
          <a:xfrm>
            <a:off x="5906400" y="4251848"/>
            <a:ext cx="255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A519BC6-E174-8090-A4E1-A63B5DD6CC72}"/>
              </a:ext>
            </a:extLst>
          </p:cNvPr>
          <p:cNvCxnSpPr>
            <a:cxnSpLocks/>
          </p:cNvCxnSpPr>
          <p:nvPr/>
        </p:nvCxnSpPr>
        <p:spPr>
          <a:xfrm>
            <a:off x="5913201" y="4415680"/>
            <a:ext cx="2559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3E071E9-4A27-3F43-F984-FDA7FFF1AB25}"/>
              </a:ext>
            </a:extLst>
          </p:cNvPr>
          <p:cNvCxnSpPr>
            <a:cxnSpLocks/>
          </p:cNvCxnSpPr>
          <p:nvPr/>
        </p:nvCxnSpPr>
        <p:spPr>
          <a:xfrm flipV="1">
            <a:off x="5893310" y="2932736"/>
            <a:ext cx="2578097" cy="17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8D86B04-50FD-425E-C776-B637B3153F1F}"/>
              </a:ext>
            </a:extLst>
          </p:cNvPr>
          <p:cNvCxnSpPr>
            <a:cxnSpLocks/>
          </p:cNvCxnSpPr>
          <p:nvPr/>
        </p:nvCxnSpPr>
        <p:spPr>
          <a:xfrm flipV="1">
            <a:off x="6085033" y="2731837"/>
            <a:ext cx="2231158" cy="17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A0DE4759-3919-7698-1F77-274DFFAD6EA2}"/>
              </a:ext>
            </a:extLst>
          </p:cNvPr>
          <p:cNvCxnSpPr>
            <a:cxnSpLocks/>
          </p:cNvCxnSpPr>
          <p:nvPr/>
        </p:nvCxnSpPr>
        <p:spPr>
          <a:xfrm flipV="1">
            <a:off x="6234618" y="2537190"/>
            <a:ext cx="1901465" cy="22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DA9B2B9-AED9-5AF2-1CED-3C5B2FC3249E}"/>
              </a:ext>
            </a:extLst>
          </p:cNvPr>
          <p:cNvCxnSpPr>
            <a:cxnSpLocks/>
          </p:cNvCxnSpPr>
          <p:nvPr/>
        </p:nvCxnSpPr>
        <p:spPr>
          <a:xfrm flipV="1">
            <a:off x="6272648" y="4768066"/>
            <a:ext cx="1901465" cy="22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E0539FB-3283-8E49-7AD0-5A48A60CAF7E}"/>
              </a:ext>
            </a:extLst>
          </p:cNvPr>
          <p:cNvCxnSpPr>
            <a:cxnSpLocks/>
          </p:cNvCxnSpPr>
          <p:nvPr/>
        </p:nvCxnSpPr>
        <p:spPr>
          <a:xfrm flipV="1">
            <a:off x="6096000" y="4589160"/>
            <a:ext cx="2231158" cy="176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3CC2F3B-3CB6-53DA-FE83-2658EA4E47B4}"/>
              </a:ext>
            </a:extLst>
          </p:cNvPr>
          <p:cNvCxnSpPr>
            <a:cxnSpLocks/>
          </p:cNvCxnSpPr>
          <p:nvPr/>
        </p:nvCxnSpPr>
        <p:spPr>
          <a:xfrm flipV="1">
            <a:off x="6459683" y="4960707"/>
            <a:ext cx="1472045" cy="22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직선 연결선 1024">
            <a:extLst>
              <a:ext uri="{FF2B5EF4-FFF2-40B4-BE49-F238E27FC236}">
                <a16:creationId xmlns:a16="http://schemas.microsoft.com/office/drawing/2014/main" id="{15F3739A-A1C6-AD7A-CA3E-B6B4A3D6DAF9}"/>
              </a:ext>
            </a:extLst>
          </p:cNvPr>
          <p:cNvCxnSpPr>
            <a:cxnSpLocks/>
          </p:cNvCxnSpPr>
          <p:nvPr/>
        </p:nvCxnSpPr>
        <p:spPr>
          <a:xfrm flipV="1">
            <a:off x="6456866" y="2339068"/>
            <a:ext cx="1472045" cy="224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직선 연결선 1026">
            <a:extLst>
              <a:ext uri="{FF2B5EF4-FFF2-40B4-BE49-F238E27FC236}">
                <a16:creationId xmlns:a16="http://schemas.microsoft.com/office/drawing/2014/main" id="{794A7B88-22FE-368D-9EA6-62277B6D55C1}"/>
              </a:ext>
            </a:extLst>
          </p:cNvPr>
          <p:cNvCxnSpPr>
            <a:cxnSpLocks/>
          </p:cNvCxnSpPr>
          <p:nvPr/>
        </p:nvCxnSpPr>
        <p:spPr>
          <a:xfrm>
            <a:off x="6993731" y="2192205"/>
            <a:ext cx="3803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B2C1B8D6-BD60-2006-F363-84832E2A21B0}"/>
              </a:ext>
            </a:extLst>
          </p:cNvPr>
          <p:cNvCxnSpPr>
            <a:cxnSpLocks/>
          </p:cNvCxnSpPr>
          <p:nvPr/>
        </p:nvCxnSpPr>
        <p:spPr>
          <a:xfrm>
            <a:off x="7000370" y="5167746"/>
            <a:ext cx="3803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화살표: 오른쪽 1029">
            <a:extLst>
              <a:ext uri="{FF2B5EF4-FFF2-40B4-BE49-F238E27FC236}">
                <a16:creationId xmlns:a16="http://schemas.microsoft.com/office/drawing/2014/main" id="{F37509EB-D42E-06FC-B9E3-106983B3D99B}"/>
              </a:ext>
            </a:extLst>
          </p:cNvPr>
          <p:cNvSpPr/>
          <p:nvPr/>
        </p:nvSpPr>
        <p:spPr>
          <a:xfrm>
            <a:off x="8968278" y="3373405"/>
            <a:ext cx="1118193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069B8AE0-2C53-AF3F-C6B6-880D75450549}"/>
              </a:ext>
            </a:extLst>
          </p:cNvPr>
          <p:cNvSpPr txBox="1"/>
          <p:nvPr/>
        </p:nvSpPr>
        <p:spPr>
          <a:xfrm>
            <a:off x="8878597" y="2932736"/>
            <a:ext cx="111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Overlap</a:t>
            </a:r>
            <a:endParaRPr lang="ko-KR" altLang="en-US" b="1" dirty="0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6103DF2C-C622-E7A8-BAA1-A6BC9759096C}"/>
              </a:ext>
            </a:extLst>
          </p:cNvPr>
          <p:cNvSpPr txBox="1"/>
          <p:nvPr/>
        </p:nvSpPr>
        <p:spPr>
          <a:xfrm>
            <a:off x="10169598" y="3431055"/>
            <a:ext cx="124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DINOv2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53386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A47D8E-EAD3-07CD-B095-094BA78680E7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C3615-38D3-0D1F-0CA2-E92A66A2F5BB}"/>
              </a:ext>
            </a:extLst>
          </p:cNvPr>
          <p:cNvSpPr txBox="1"/>
          <p:nvPr/>
        </p:nvSpPr>
        <p:spPr>
          <a:xfrm>
            <a:off x="2139333" y="2098964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과거 결함 이미지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2D72C2F3-E029-4FCC-9715-F01706E5045D}"/>
              </a:ext>
            </a:extLst>
          </p:cNvPr>
          <p:cNvSpPr/>
          <p:nvPr/>
        </p:nvSpPr>
        <p:spPr>
          <a:xfrm>
            <a:off x="4149903" y="208857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F6A3E-7358-FE1F-6FC7-EA6C6198C3E0}"/>
              </a:ext>
            </a:extLst>
          </p:cNvPr>
          <p:cNvSpPr txBox="1"/>
          <p:nvPr/>
        </p:nvSpPr>
        <p:spPr>
          <a:xfrm>
            <a:off x="4115267" y="1781587"/>
            <a:ext cx="88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Tiling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2CB8BF-1408-02BA-EEED-DA723199FAA2}"/>
              </a:ext>
            </a:extLst>
          </p:cNvPr>
          <p:cNvSpPr/>
          <p:nvPr/>
        </p:nvSpPr>
        <p:spPr>
          <a:xfrm>
            <a:off x="5351785" y="1925643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DINOv2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2EA5C4D0-02F7-7CE3-C2DC-B619A19DA819}"/>
              </a:ext>
            </a:extLst>
          </p:cNvPr>
          <p:cNvSpPr/>
          <p:nvPr/>
        </p:nvSpPr>
        <p:spPr>
          <a:xfrm>
            <a:off x="6822168" y="2088573"/>
            <a:ext cx="200364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DAC31-B5C7-9EFD-26C3-61ABBA1F3043}"/>
              </a:ext>
            </a:extLst>
          </p:cNvPr>
          <p:cNvSpPr txBox="1"/>
          <p:nvPr/>
        </p:nvSpPr>
        <p:spPr>
          <a:xfrm>
            <a:off x="6787532" y="1781587"/>
            <a:ext cx="192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Feature vector</a:t>
            </a:r>
            <a:endParaRPr lang="ko-KR" altLang="en-US" b="1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16ACAA-6F73-3768-3E04-50F818AED71A}"/>
              </a:ext>
            </a:extLst>
          </p:cNvPr>
          <p:cNvSpPr/>
          <p:nvPr/>
        </p:nvSpPr>
        <p:spPr>
          <a:xfrm>
            <a:off x="9004258" y="1928968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FAISS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953D2-EE6C-410A-2496-826955746CD0}"/>
              </a:ext>
            </a:extLst>
          </p:cNvPr>
          <p:cNvSpPr txBox="1"/>
          <p:nvPr/>
        </p:nvSpPr>
        <p:spPr>
          <a:xfrm>
            <a:off x="520969" y="2119746"/>
            <a:ext cx="1114999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DB </a:t>
            </a:r>
            <a:r>
              <a:rPr lang="ko-KR" altLang="en-US" b="1" dirty="0"/>
              <a:t>구축</a:t>
            </a:r>
            <a:r>
              <a:rPr lang="en-US" altLang="ko-KR" b="1" dirty="0"/>
              <a:t>: 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860830-4DD1-4364-4F6E-F68F76A47213}"/>
              </a:ext>
            </a:extLst>
          </p:cNvPr>
          <p:cNvSpPr txBox="1"/>
          <p:nvPr/>
        </p:nvSpPr>
        <p:spPr>
          <a:xfrm>
            <a:off x="269285" y="4010896"/>
            <a:ext cx="1618365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실시간 검사</a:t>
            </a:r>
            <a:r>
              <a:rPr lang="en-US" altLang="ko-KR" b="1" dirty="0"/>
              <a:t>: 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5ECACD-3590-4EEB-C829-6E8174156EF1}"/>
              </a:ext>
            </a:extLst>
          </p:cNvPr>
          <p:cNvSpPr txBox="1"/>
          <p:nvPr/>
        </p:nvSpPr>
        <p:spPr>
          <a:xfrm>
            <a:off x="1659332" y="4027528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신규 결함 이미지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BD88549-BAD6-5EA0-B62F-17212FF1BD9F}"/>
              </a:ext>
            </a:extLst>
          </p:cNvPr>
          <p:cNvSpPr/>
          <p:nvPr/>
        </p:nvSpPr>
        <p:spPr>
          <a:xfrm>
            <a:off x="3669902" y="40005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B3B094-ED91-6EA5-A919-158B12944DF9}"/>
              </a:ext>
            </a:extLst>
          </p:cNvPr>
          <p:cNvSpPr txBox="1"/>
          <p:nvPr/>
        </p:nvSpPr>
        <p:spPr>
          <a:xfrm>
            <a:off x="3595745" y="3749109"/>
            <a:ext cx="88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Tiling</a:t>
            </a:r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15DEC0-841A-0148-C731-233A97A4F3A9}"/>
              </a:ext>
            </a:extLst>
          </p:cNvPr>
          <p:cNvSpPr/>
          <p:nvPr/>
        </p:nvSpPr>
        <p:spPr>
          <a:xfrm>
            <a:off x="4871784" y="3837659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DINOv2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9EB89CCC-9311-E2BE-B1B9-1F77B15AF308}"/>
              </a:ext>
            </a:extLst>
          </p:cNvPr>
          <p:cNvSpPr/>
          <p:nvPr/>
        </p:nvSpPr>
        <p:spPr>
          <a:xfrm>
            <a:off x="9418102" y="2919114"/>
            <a:ext cx="252272" cy="1729036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9E8DC-944F-CE32-4223-708F3165D5E3}"/>
              </a:ext>
            </a:extLst>
          </p:cNvPr>
          <p:cNvSpPr txBox="1"/>
          <p:nvPr/>
        </p:nvSpPr>
        <p:spPr>
          <a:xfrm>
            <a:off x="5495199" y="3007297"/>
            <a:ext cx="117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Top – 5 </a:t>
            </a:r>
            <a:r>
              <a:rPr lang="ko-KR" altLang="en-US" b="1" dirty="0"/>
              <a:t>검색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5BE610-D8F4-20FD-9564-C5EB09C38D8D}"/>
              </a:ext>
            </a:extLst>
          </p:cNvPr>
          <p:cNvSpPr txBox="1"/>
          <p:nvPr/>
        </p:nvSpPr>
        <p:spPr>
          <a:xfrm>
            <a:off x="9603129" y="3412842"/>
            <a:ext cx="117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Prompt </a:t>
            </a:r>
            <a:r>
              <a:rPr lang="ko-KR" altLang="en-US" b="1" dirty="0"/>
              <a:t>생성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E635B41-EF30-7CD2-9F14-2A2B46CC12EC}"/>
              </a:ext>
            </a:extLst>
          </p:cNvPr>
          <p:cNvSpPr/>
          <p:nvPr/>
        </p:nvSpPr>
        <p:spPr>
          <a:xfrm>
            <a:off x="8938101" y="4732557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SAM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890774DC-9933-71D0-7F47-0D04F22105E4}"/>
              </a:ext>
            </a:extLst>
          </p:cNvPr>
          <p:cNvSpPr/>
          <p:nvPr/>
        </p:nvSpPr>
        <p:spPr>
          <a:xfrm>
            <a:off x="10216531" y="4926279"/>
            <a:ext cx="316136" cy="35073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2084170F-F0F7-9994-F823-65B29FFD87B8}"/>
              </a:ext>
            </a:extLst>
          </p:cNvPr>
          <p:cNvSpPr/>
          <p:nvPr/>
        </p:nvSpPr>
        <p:spPr>
          <a:xfrm>
            <a:off x="6285449" y="3979358"/>
            <a:ext cx="978408" cy="484632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105BC6-5C40-95C9-6205-DB677633D90E}"/>
              </a:ext>
            </a:extLst>
          </p:cNvPr>
          <p:cNvSpPr txBox="1"/>
          <p:nvPr/>
        </p:nvSpPr>
        <p:spPr>
          <a:xfrm>
            <a:off x="7252356" y="3882284"/>
            <a:ext cx="1491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Defect </a:t>
            </a:r>
            <a:r>
              <a:rPr lang="ko-KR" altLang="en-US" b="1" dirty="0"/>
              <a:t>종류 판별</a:t>
            </a: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DC2BBB97-3620-D1B9-8BD1-B92380AFC400}"/>
              </a:ext>
            </a:extLst>
          </p:cNvPr>
          <p:cNvSpPr/>
          <p:nvPr/>
        </p:nvSpPr>
        <p:spPr>
          <a:xfrm rot="20335457">
            <a:off x="6090898" y="3087877"/>
            <a:ext cx="2889204" cy="303860"/>
          </a:xfrm>
          <a:prstGeom prst="rightArrow">
            <a:avLst/>
          </a:prstGeom>
          <a:solidFill>
            <a:srgbClr val="5B9BD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CE1B03-D795-0764-D437-982C75B9BE28}"/>
              </a:ext>
            </a:extLst>
          </p:cNvPr>
          <p:cNvSpPr txBox="1"/>
          <p:nvPr/>
        </p:nvSpPr>
        <p:spPr>
          <a:xfrm>
            <a:off x="10390944" y="4778481"/>
            <a:ext cx="18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Segmentation map </a:t>
            </a:r>
            <a:r>
              <a:rPr lang="ko-KR" altLang="en-US" b="1" dirty="0"/>
              <a:t>생성</a:t>
            </a:r>
          </a:p>
        </p:txBody>
      </p:sp>
      <p:sp>
        <p:nvSpPr>
          <p:cNvPr id="17" name="화살표: 위로 굽음 16">
            <a:extLst>
              <a:ext uri="{FF2B5EF4-FFF2-40B4-BE49-F238E27FC236}">
                <a16:creationId xmlns:a16="http://schemas.microsoft.com/office/drawing/2014/main" id="{0FB30A5F-0556-284E-D3CB-3E1901A7A71A}"/>
              </a:ext>
            </a:extLst>
          </p:cNvPr>
          <p:cNvSpPr/>
          <p:nvPr/>
        </p:nvSpPr>
        <p:spPr>
          <a:xfrm rot="5400000">
            <a:off x="5158414" y="1773955"/>
            <a:ext cx="850392" cy="6338930"/>
          </a:xfrm>
          <a:prstGeom prst="bent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3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1E4022-8815-1671-EF4E-382FC34FEF53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88169-5B3B-9953-5296-F959BE6F91E9}"/>
              </a:ext>
            </a:extLst>
          </p:cNvPr>
          <p:cNvSpPr txBox="1"/>
          <p:nvPr/>
        </p:nvSpPr>
        <p:spPr>
          <a:xfrm>
            <a:off x="422856" y="1403010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DINOv2</a:t>
            </a:r>
            <a:endParaRPr lang="ko-KR" altLang="en-US" b="1" dirty="0"/>
          </a:p>
        </p:txBody>
      </p:sp>
      <p:pic>
        <p:nvPicPr>
          <p:cNvPr id="7" name="그림 6" descr="텍스트, 스크린샷, 폰트, 종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037ED8-E2B8-1813-92F2-E7937A125F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092"/>
          <a:stretch>
            <a:fillRect/>
          </a:stretch>
        </p:blipFill>
        <p:spPr>
          <a:xfrm>
            <a:off x="608594" y="1995292"/>
            <a:ext cx="6520364" cy="3272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42D64-0921-2EAD-352F-00D56D5BB5D0}"/>
              </a:ext>
            </a:extLst>
          </p:cNvPr>
          <p:cNvSpPr txBox="1"/>
          <p:nvPr/>
        </p:nvSpPr>
        <p:spPr>
          <a:xfrm>
            <a:off x="7128958" y="2419264"/>
            <a:ext cx="44544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b="1" dirty="0"/>
              <a:t>Self-supervised learning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이미지 자체의 특징만으로 학습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강건성</a:t>
            </a:r>
            <a:endParaRPr lang="en-US" altLang="ko-KR" b="1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조명</a:t>
            </a:r>
            <a:r>
              <a:rPr lang="en-US" altLang="ko-KR" dirty="0"/>
              <a:t> &amp; </a:t>
            </a:r>
            <a:r>
              <a:rPr lang="ko-KR" altLang="en-US" dirty="0"/>
              <a:t>크기 변화</a:t>
            </a:r>
            <a:r>
              <a:rPr lang="en-US" altLang="ko-KR" dirty="0"/>
              <a:t>, </a:t>
            </a:r>
            <a:r>
              <a:rPr lang="ko-KR" altLang="en-US" dirty="0"/>
              <a:t>회전에 강함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/>
              <a:t>Patch-level Understanding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9624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41F9C-5DF0-F1CC-FCAE-EE0568842A25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3421B-18DF-B2EE-80C5-BC38AF937B46}"/>
              </a:ext>
            </a:extLst>
          </p:cNvPr>
          <p:cNvSpPr txBox="1"/>
          <p:nvPr/>
        </p:nvSpPr>
        <p:spPr>
          <a:xfrm>
            <a:off x="422856" y="1403010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SAM</a:t>
            </a:r>
            <a:endParaRPr lang="ko-KR" altLang="en-US" b="1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136526-A5A4-E05D-A48E-B67164687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56" y="2074460"/>
            <a:ext cx="6007370" cy="25079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338AD-0323-AD8C-824A-7A6728A09323}"/>
              </a:ext>
            </a:extLst>
          </p:cNvPr>
          <p:cNvSpPr txBox="1"/>
          <p:nvPr/>
        </p:nvSpPr>
        <p:spPr>
          <a:xfrm>
            <a:off x="6598227" y="1922319"/>
            <a:ext cx="4478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검색된 </a:t>
            </a:r>
            <a:r>
              <a:rPr lang="en-US" altLang="ko-KR" dirty="0" err="1"/>
              <a:t>Bbox</a:t>
            </a:r>
            <a:r>
              <a:rPr lang="en-US" altLang="ko-KR" dirty="0"/>
              <a:t> </a:t>
            </a:r>
            <a:r>
              <a:rPr lang="ko-KR" altLang="en-US" dirty="0"/>
              <a:t>좌표 </a:t>
            </a:r>
            <a:r>
              <a:rPr lang="en-US" altLang="ko-KR" dirty="0"/>
              <a:t>prompt</a:t>
            </a:r>
            <a:r>
              <a:rPr lang="ko-KR" altLang="en-US" dirty="0"/>
              <a:t>로 받을 수 있음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Weak label</a:t>
            </a:r>
            <a:r>
              <a:rPr lang="ko-KR" altLang="en-US" dirty="0"/>
              <a:t>을 입력으로 주어도 픽셀 단위의 정교한 마스크 도출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Unknow</a:t>
            </a:r>
            <a:r>
              <a:rPr lang="ko-KR" altLang="en-US" dirty="0"/>
              <a:t> </a:t>
            </a:r>
            <a:r>
              <a:rPr lang="en-US" altLang="ko-KR" dirty="0"/>
              <a:t>defect</a:t>
            </a:r>
            <a:r>
              <a:rPr lang="ko-KR" altLang="en-US" dirty="0"/>
              <a:t> 대응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좋은 </a:t>
            </a:r>
            <a:r>
              <a:rPr lang="en-US" altLang="ko-KR" dirty="0"/>
              <a:t>Edge </a:t>
            </a:r>
            <a:r>
              <a:rPr lang="ko-KR" altLang="en-US" dirty="0"/>
              <a:t>판별 능력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8946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04E9E-3087-07CE-060F-80952441114F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70D2E-70D4-CFCF-A34A-421891F712EF}"/>
              </a:ext>
            </a:extLst>
          </p:cNvPr>
          <p:cNvSpPr txBox="1"/>
          <p:nvPr/>
        </p:nvSpPr>
        <p:spPr>
          <a:xfrm>
            <a:off x="422856" y="1403010"/>
            <a:ext cx="21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SAID Architecture</a:t>
            </a:r>
            <a:endParaRPr lang="ko-KR" altLang="en-US" b="1" dirty="0"/>
          </a:p>
        </p:txBody>
      </p:sp>
      <p:pic>
        <p:nvPicPr>
          <p:cNvPr id="7" name="그림 6" descr="스크린샷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E60ED-CCF9-BA27-67CA-54CC84DB8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46" y="1869761"/>
            <a:ext cx="9995010" cy="2113520"/>
          </a:xfrm>
          <a:prstGeom prst="rect">
            <a:avLst/>
          </a:prstGeom>
        </p:spPr>
      </p:pic>
      <p:pic>
        <p:nvPicPr>
          <p:cNvPr id="9" name="그림 8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0D7BFB-C822-98C5-FCB8-AB9116DA9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876" y="3813464"/>
            <a:ext cx="6194178" cy="2527599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A02BD187-8171-B438-B2C4-BEB3DD0E1011}"/>
              </a:ext>
            </a:extLst>
          </p:cNvPr>
          <p:cNvSpPr/>
          <p:nvPr/>
        </p:nvSpPr>
        <p:spPr>
          <a:xfrm>
            <a:off x="7429500" y="2982191"/>
            <a:ext cx="1298864" cy="33250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3E41E2-BE94-E9D2-0FF4-35697C9106DB}"/>
              </a:ext>
            </a:extLst>
          </p:cNvPr>
          <p:cNvSpPr/>
          <p:nvPr/>
        </p:nvSpPr>
        <p:spPr>
          <a:xfrm>
            <a:off x="3605645" y="5361709"/>
            <a:ext cx="1724891" cy="97935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A106C30-757C-2685-C0BB-4F0C0DECE5AA}"/>
              </a:ext>
            </a:extLst>
          </p:cNvPr>
          <p:cNvSpPr/>
          <p:nvPr/>
        </p:nvSpPr>
        <p:spPr>
          <a:xfrm>
            <a:off x="6277305" y="4821382"/>
            <a:ext cx="923595" cy="6650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667261-9D75-7B3F-639A-5683C17BF066}"/>
                  </a:ext>
                </a:extLst>
              </p:cNvPr>
              <p:cNvSpPr txBox="1"/>
              <p:nvPr/>
            </p:nvSpPr>
            <p:spPr>
              <a:xfrm>
                <a:off x="3927764" y="3616036"/>
                <a:ext cx="1007918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𝒊𝒎𝒂𝒈𝒆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667261-9D75-7B3F-639A-5683C17BF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764" y="3616036"/>
                <a:ext cx="1007918" cy="39190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0B22A-C7DF-3EE6-E064-0EA287ADD303}"/>
                  </a:ext>
                </a:extLst>
              </p:cNvPr>
              <p:cNvSpPr txBox="1"/>
              <p:nvPr/>
            </p:nvSpPr>
            <p:spPr>
              <a:xfrm>
                <a:off x="4431723" y="4966221"/>
                <a:ext cx="10079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𝒔𝒄𝒆𝒏𝒆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040B22A-C7DF-3EE6-E064-0EA287ADD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723" y="4966221"/>
                <a:ext cx="10079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06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2076F2-DE5E-3210-047C-D84E1F7B9BB2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86F76-583A-F12A-674C-861202A16E77}"/>
              </a:ext>
            </a:extLst>
          </p:cNvPr>
          <p:cNvSpPr txBox="1"/>
          <p:nvPr/>
        </p:nvSpPr>
        <p:spPr>
          <a:xfrm>
            <a:off x="422856" y="1403010"/>
            <a:ext cx="21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SAID Architecture</a:t>
            </a:r>
            <a:endParaRPr lang="ko-KR" altLang="en-US" b="1" dirty="0"/>
          </a:p>
        </p:txBody>
      </p:sp>
      <p:pic>
        <p:nvPicPr>
          <p:cNvPr id="5" name="그림 4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33A3C4-8397-4FFC-E904-B6BA7968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494" y="1943404"/>
            <a:ext cx="8513012" cy="379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3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DD9C-A9E8-EDDC-B5B1-14649FFF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4002B8-51BE-891C-CFBB-8FA1F2E739C3}"/>
              </a:ext>
            </a:extLst>
          </p:cNvPr>
          <p:cNvSpPr txBox="1"/>
          <p:nvPr/>
        </p:nvSpPr>
        <p:spPr>
          <a:xfrm>
            <a:off x="422856" y="647443"/>
            <a:ext cx="1332011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A7495-88A1-3695-5B10-8D46BCA9096C}"/>
              </a:ext>
            </a:extLst>
          </p:cNvPr>
          <p:cNvSpPr txBox="1"/>
          <p:nvPr/>
        </p:nvSpPr>
        <p:spPr>
          <a:xfrm>
            <a:off x="422856" y="1403010"/>
            <a:ext cx="2141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SAID Architecture</a:t>
            </a:r>
            <a:endParaRPr lang="ko-KR" altLang="en-US" b="1" dirty="0"/>
          </a:p>
        </p:txBody>
      </p:sp>
      <p:pic>
        <p:nvPicPr>
          <p:cNvPr id="8" name="그림 7" descr="스크린샷, 사각형, 원, 모자이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C87E6-7D45-30A3-51E5-6F221BC6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732" y="1587676"/>
            <a:ext cx="6258877" cy="4535882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86D9756-DCE5-F746-4BF5-9C3D4EA9C14F}"/>
              </a:ext>
            </a:extLst>
          </p:cNvPr>
          <p:cNvSpPr/>
          <p:nvPr/>
        </p:nvSpPr>
        <p:spPr>
          <a:xfrm>
            <a:off x="6826827" y="1546112"/>
            <a:ext cx="1122219" cy="453588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552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865F2-E04B-D76A-C29D-CC0096EAB2B5}"/>
              </a:ext>
            </a:extLst>
          </p:cNvPr>
          <p:cNvSpPr txBox="1"/>
          <p:nvPr/>
        </p:nvSpPr>
        <p:spPr>
          <a:xfrm>
            <a:off x="422856" y="647443"/>
            <a:ext cx="2091835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 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B92AE-7CD9-E617-F0D2-D06785AFEC8A}"/>
              </a:ext>
            </a:extLst>
          </p:cNvPr>
          <p:cNvSpPr txBox="1"/>
          <p:nvPr/>
        </p:nvSpPr>
        <p:spPr>
          <a:xfrm>
            <a:off x="422856" y="1403010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JSON</a:t>
            </a:r>
            <a:endParaRPr lang="ko-KR" altLang="en-US" b="1" dirty="0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8ADB1-64F9-36AE-DBE5-1FF572C7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464" y="1482122"/>
            <a:ext cx="8830907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59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EA0EF-A70F-1E82-6107-AF9151FC5CE7}"/>
              </a:ext>
            </a:extLst>
          </p:cNvPr>
          <p:cNvSpPr txBox="1"/>
          <p:nvPr/>
        </p:nvSpPr>
        <p:spPr>
          <a:xfrm>
            <a:off x="422856" y="647443"/>
            <a:ext cx="1987768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Prompt </a:t>
            </a:r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FEB77-4B12-3BD6-A6E3-946E1F508058}"/>
              </a:ext>
            </a:extLst>
          </p:cNvPr>
          <p:cNvSpPr txBox="1"/>
          <p:nvPr/>
        </p:nvSpPr>
        <p:spPr>
          <a:xfrm>
            <a:off x="2139333" y="2098964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과거 결함 이미지</a:t>
            </a: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E3211025-3302-2054-2124-182D8850AACA}"/>
              </a:ext>
            </a:extLst>
          </p:cNvPr>
          <p:cNvSpPr/>
          <p:nvPr/>
        </p:nvSpPr>
        <p:spPr>
          <a:xfrm>
            <a:off x="4149903" y="208857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E8807-8AD7-D0A3-CACC-2582013F2DBD}"/>
              </a:ext>
            </a:extLst>
          </p:cNvPr>
          <p:cNvSpPr txBox="1"/>
          <p:nvPr/>
        </p:nvSpPr>
        <p:spPr>
          <a:xfrm>
            <a:off x="4115267" y="1781587"/>
            <a:ext cx="88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Tiling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B90460-89DF-7D0D-C1CB-15AEBF63CB18}"/>
              </a:ext>
            </a:extLst>
          </p:cNvPr>
          <p:cNvSpPr/>
          <p:nvPr/>
        </p:nvSpPr>
        <p:spPr>
          <a:xfrm>
            <a:off x="5351785" y="1925643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DINOv2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15440102-CAA2-F259-6984-FA89190EA2C1}"/>
              </a:ext>
            </a:extLst>
          </p:cNvPr>
          <p:cNvSpPr/>
          <p:nvPr/>
        </p:nvSpPr>
        <p:spPr>
          <a:xfrm>
            <a:off x="6822168" y="2088573"/>
            <a:ext cx="2003644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E0B75-6223-8D86-37B5-ABB5B085C9E1}"/>
              </a:ext>
            </a:extLst>
          </p:cNvPr>
          <p:cNvSpPr txBox="1"/>
          <p:nvPr/>
        </p:nvSpPr>
        <p:spPr>
          <a:xfrm>
            <a:off x="6787532" y="1781587"/>
            <a:ext cx="192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Feature vector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6CC8F7-0EDA-C2F4-7DA2-083DFA0F5DDE}"/>
              </a:ext>
            </a:extLst>
          </p:cNvPr>
          <p:cNvSpPr/>
          <p:nvPr/>
        </p:nvSpPr>
        <p:spPr>
          <a:xfrm>
            <a:off x="9004258" y="1928968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FAISS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DA5569-CD8F-DF71-AA59-78A0B76C7833}"/>
              </a:ext>
            </a:extLst>
          </p:cNvPr>
          <p:cNvSpPr txBox="1"/>
          <p:nvPr/>
        </p:nvSpPr>
        <p:spPr>
          <a:xfrm>
            <a:off x="520969" y="2119746"/>
            <a:ext cx="1114999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DB </a:t>
            </a:r>
            <a:r>
              <a:rPr lang="ko-KR" altLang="en-US" b="1" dirty="0"/>
              <a:t>구축</a:t>
            </a:r>
            <a:r>
              <a:rPr lang="en-US" altLang="ko-KR" b="1" dirty="0"/>
              <a:t>: 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0CCDD-19DF-A6FC-F406-958151EA8340}"/>
              </a:ext>
            </a:extLst>
          </p:cNvPr>
          <p:cNvSpPr txBox="1"/>
          <p:nvPr/>
        </p:nvSpPr>
        <p:spPr>
          <a:xfrm>
            <a:off x="269285" y="4010896"/>
            <a:ext cx="1618365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실시간 검사</a:t>
            </a:r>
            <a:r>
              <a:rPr lang="en-US" altLang="ko-KR" b="1" dirty="0"/>
              <a:t>: 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64FA5E-48F7-5FDE-EFB0-D15212EAC7FA}"/>
              </a:ext>
            </a:extLst>
          </p:cNvPr>
          <p:cNvSpPr txBox="1"/>
          <p:nvPr/>
        </p:nvSpPr>
        <p:spPr>
          <a:xfrm>
            <a:off x="1659332" y="4027528"/>
            <a:ext cx="2005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신규 결함 이미지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95C39E0-3D24-F006-4552-26E6D3F3FE46}"/>
              </a:ext>
            </a:extLst>
          </p:cNvPr>
          <p:cNvSpPr/>
          <p:nvPr/>
        </p:nvSpPr>
        <p:spPr>
          <a:xfrm>
            <a:off x="3669902" y="400058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DE4854-3D4F-841F-BFB0-D3D34AB1C12B}"/>
              </a:ext>
            </a:extLst>
          </p:cNvPr>
          <p:cNvSpPr txBox="1"/>
          <p:nvPr/>
        </p:nvSpPr>
        <p:spPr>
          <a:xfrm>
            <a:off x="3595745" y="3749109"/>
            <a:ext cx="886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Tiling</a:t>
            </a:r>
            <a:endParaRPr lang="ko-KR" altLang="en-US" b="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1C75A3-76D2-5175-B352-74F7FECDB39F}"/>
              </a:ext>
            </a:extLst>
          </p:cNvPr>
          <p:cNvSpPr/>
          <p:nvPr/>
        </p:nvSpPr>
        <p:spPr>
          <a:xfrm>
            <a:off x="4871784" y="3837659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DINOv2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5AA16A01-79C7-CD71-6432-43B236619141}"/>
              </a:ext>
            </a:extLst>
          </p:cNvPr>
          <p:cNvSpPr/>
          <p:nvPr/>
        </p:nvSpPr>
        <p:spPr>
          <a:xfrm>
            <a:off x="9418102" y="2919114"/>
            <a:ext cx="252272" cy="665019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98AA59-F765-F0EF-5E7A-5C39BBF44785}"/>
              </a:ext>
            </a:extLst>
          </p:cNvPr>
          <p:cNvSpPr txBox="1"/>
          <p:nvPr/>
        </p:nvSpPr>
        <p:spPr>
          <a:xfrm>
            <a:off x="5495199" y="3007297"/>
            <a:ext cx="117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Top – 5 </a:t>
            </a:r>
            <a:r>
              <a:rPr lang="ko-KR" altLang="en-US" b="1" dirty="0"/>
              <a:t>검색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CAE66-50D9-2B96-3FA1-1B6BE222E0C4}"/>
              </a:ext>
            </a:extLst>
          </p:cNvPr>
          <p:cNvSpPr txBox="1"/>
          <p:nvPr/>
        </p:nvSpPr>
        <p:spPr>
          <a:xfrm>
            <a:off x="9715495" y="2916641"/>
            <a:ext cx="1177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Prompt </a:t>
            </a:r>
            <a:r>
              <a:rPr lang="ko-KR" altLang="en-US" b="1" dirty="0"/>
              <a:t>생성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7BC915D-A27D-7A54-FB7F-788541B37DE4}"/>
              </a:ext>
            </a:extLst>
          </p:cNvPr>
          <p:cNvSpPr/>
          <p:nvPr/>
        </p:nvSpPr>
        <p:spPr>
          <a:xfrm>
            <a:off x="8938101" y="3776592"/>
            <a:ext cx="1212273" cy="81049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SAM+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Adapter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화살표: 위로 굽음 19">
            <a:extLst>
              <a:ext uri="{FF2B5EF4-FFF2-40B4-BE49-F238E27FC236}">
                <a16:creationId xmlns:a16="http://schemas.microsoft.com/office/drawing/2014/main" id="{8008DBCC-6F9A-9BE8-2024-EC3ED350F81A}"/>
              </a:ext>
            </a:extLst>
          </p:cNvPr>
          <p:cNvSpPr/>
          <p:nvPr/>
        </p:nvSpPr>
        <p:spPr>
          <a:xfrm>
            <a:off x="2465893" y="4675089"/>
            <a:ext cx="7368925" cy="725448"/>
          </a:xfrm>
          <a:prstGeom prst="bent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57048FA-C0DE-D38A-BEA3-32467BE13840}"/>
              </a:ext>
            </a:extLst>
          </p:cNvPr>
          <p:cNvSpPr/>
          <p:nvPr/>
        </p:nvSpPr>
        <p:spPr>
          <a:xfrm rot="10800000">
            <a:off x="2465893" y="4510615"/>
            <a:ext cx="168498" cy="88992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DF3825A0-5685-7702-A4C0-9B608044B20A}"/>
              </a:ext>
            </a:extLst>
          </p:cNvPr>
          <p:cNvSpPr/>
          <p:nvPr/>
        </p:nvSpPr>
        <p:spPr>
          <a:xfrm>
            <a:off x="10216533" y="4013446"/>
            <a:ext cx="316136" cy="35073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26ADDF5B-D6F8-51FB-AF3A-0180149F7E6A}"/>
              </a:ext>
            </a:extLst>
          </p:cNvPr>
          <p:cNvSpPr/>
          <p:nvPr/>
        </p:nvSpPr>
        <p:spPr>
          <a:xfrm>
            <a:off x="6285449" y="3979358"/>
            <a:ext cx="978408" cy="484632"/>
          </a:xfrm>
          <a:prstGeom prst="rightArrow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976E36-6528-45C8-A9EF-2CC8140430FA}"/>
              </a:ext>
            </a:extLst>
          </p:cNvPr>
          <p:cNvSpPr txBox="1"/>
          <p:nvPr/>
        </p:nvSpPr>
        <p:spPr>
          <a:xfrm>
            <a:off x="7252356" y="3882284"/>
            <a:ext cx="1491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Defect </a:t>
            </a:r>
            <a:r>
              <a:rPr lang="ko-KR" altLang="en-US" b="1" dirty="0"/>
              <a:t>종류 판별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C27174BB-3E9C-C42E-BEBD-D39AC47392C9}"/>
              </a:ext>
            </a:extLst>
          </p:cNvPr>
          <p:cNvSpPr/>
          <p:nvPr/>
        </p:nvSpPr>
        <p:spPr>
          <a:xfrm rot="20335457">
            <a:off x="6090898" y="3087877"/>
            <a:ext cx="2889204" cy="30386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2103B69-3756-B391-CD92-3851B7BB75F8}"/>
              </a:ext>
            </a:extLst>
          </p:cNvPr>
          <p:cNvSpPr/>
          <p:nvPr/>
        </p:nvSpPr>
        <p:spPr>
          <a:xfrm>
            <a:off x="8743634" y="1781587"/>
            <a:ext cx="2058091" cy="307096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79D1CA-FF16-448E-1366-C331F8363755}"/>
              </a:ext>
            </a:extLst>
          </p:cNvPr>
          <p:cNvSpPr txBox="1"/>
          <p:nvPr/>
        </p:nvSpPr>
        <p:spPr>
          <a:xfrm>
            <a:off x="10390944" y="3817659"/>
            <a:ext cx="18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Segmentation map </a:t>
            </a:r>
            <a:r>
              <a:rPr lang="ko-KR" altLang="en-US" b="1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3217335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556B0-C8FD-7B6D-9489-C65F4D653184}"/>
              </a:ext>
            </a:extLst>
          </p:cNvPr>
          <p:cNvSpPr txBox="1"/>
          <p:nvPr/>
        </p:nvSpPr>
        <p:spPr>
          <a:xfrm>
            <a:off x="422856" y="647443"/>
            <a:ext cx="2580879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S/S Prompt </a:t>
            </a:r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2C3CF-B444-E8CE-FEC4-164E46B416A7}"/>
              </a:ext>
            </a:extLst>
          </p:cNvPr>
          <p:cNvSpPr txBox="1"/>
          <p:nvPr/>
        </p:nvSpPr>
        <p:spPr>
          <a:xfrm>
            <a:off x="623455" y="1631373"/>
            <a:ext cx="10422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좌표 보정</a:t>
            </a:r>
            <a:endParaRPr lang="en-US" altLang="ko-KR" b="1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앞의 </a:t>
            </a:r>
            <a:r>
              <a:rPr lang="en-US" altLang="ko-KR" dirty="0"/>
              <a:t>JSON </a:t>
            </a:r>
            <a:r>
              <a:rPr lang="ko-KR" altLang="en-US" dirty="0"/>
              <a:t>파일에서 찾은 </a:t>
            </a:r>
            <a:r>
              <a:rPr lang="en-US" altLang="ko-KR" dirty="0"/>
              <a:t>Top-5</a:t>
            </a:r>
            <a:r>
              <a:rPr lang="ko-KR" altLang="en-US" dirty="0"/>
              <a:t> 과거 결함 이미지 찾음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과거 이미지 </a:t>
            </a:r>
            <a:r>
              <a:rPr lang="en-US" altLang="ko-KR" dirty="0"/>
              <a:t>+ </a:t>
            </a:r>
            <a:r>
              <a:rPr lang="ko-KR" altLang="en-US" dirty="0"/>
              <a:t>과거 </a:t>
            </a:r>
            <a:r>
              <a:rPr lang="en-US" altLang="ko-KR" dirty="0"/>
              <a:t>mask scene encoder</a:t>
            </a:r>
            <a:r>
              <a:rPr lang="ko-KR" altLang="en-US" dirty="0"/>
              <a:t>에 넣어 </a:t>
            </a:r>
            <a:r>
              <a:rPr lang="en-US" altLang="ko-KR" dirty="0"/>
              <a:t>embedding </a:t>
            </a:r>
            <a:r>
              <a:rPr lang="ko-KR" altLang="en-US" dirty="0"/>
              <a:t>생성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b="1" dirty="0"/>
              <a:t>신뢰도 기반 필터링</a:t>
            </a:r>
            <a:endParaRPr lang="en-US" altLang="ko-KR" b="1" dirty="0"/>
          </a:p>
          <a:p>
            <a:pPr lvl="1"/>
            <a:r>
              <a:rPr lang="en-US" altLang="ko-KR" b="1" dirty="0"/>
              <a:t>- </a:t>
            </a:r>
            <a:r>
              <a:rPr lang="ko-KR" altLang="en-US" dirty="0"/>
              <a:t>유사도 점수가 설정한 </a:t>
            </a:r>
            <a:r>
              <a:rPr lang="en-US" altLang="ko-KR" dirty="0"/>
              <a:t>threshold</a:t>
            </a:r>
            <a:r>
              <a:rPr lang="ko-KR" altLang="en-US" dirty="0"/>
              <a:t>보다 작을 시 유사 과거 데이터 없음으로 간주하고</a:t>
            </a:r>
            <a:r>
              <a:rPr lang="en-US" altLang="ko-KR" dirty="0"/>
              <a:t>, SAM</a:t>
            </a:r>
            <a:r>
              <a:rPr lang="ko-KR" altLang="en-US" dirty="0"/>
              <a:t>에게 </a:t>
            </a:r>
            <a:r>
              <a:rPr lang="en-US" altLang="ko-KR" dirty="0"/>
              <a:t>	</a:t>
            </a:r>
            <a:r>
              <a:rPr lang="ko-KR" altLang="en-US" dirty="0"/>
              <a:t>다른 반응을 내놓도록 설정</a:t>
            </a: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판독 결과가 여러 개인 경우 → 거리 가중치 방식</a:t>
            </a:r>
            <a:endParaRPr lang="en-US" altLang="ko-KR" b="1" dirty="0"/>
          </a:p>
          <a:p>
            <a:pPr lvl="1"/>
            <a:r>
              <a:rPr lang="en-US" altLang="ko-KR" b="1" dirty="0"/>
              <a:t>- </a:t>
            </a:r>
            <a:r>
              <a:rPr lang="en-US" altLang="ko-KR" dirty="0"/>
              <a:t>Top-5 </a:t>
            </a:r>
            <a:r>
              <a:rPr lang="ko-KR" altLang="en-US" dirty="0"/>
              <a:t>과거 결함 종류가 </a:t>
            </a:r>
            <a:r>
              <a:rPr lang="en-US" altLang="ko-KR" dirty="0"/>
              <a:t>2</a:t>
            </a:r>
            <a:r>
              <a:rPr lang="ko-KR" altLang="en-US" dirty="0"/>
              <a:t>개 이상인 경우 거리 가중치 방식 사용하여 </a:t>
            </a:r>
            <a:r>
              <a:rPr lang="en-US" altLang="ko-KR" dirty="0"/>
              <a:t>defect </a:t>
            </a:r>
            <a:r>
              <a:rPr lang="ko-KR" altLang="en-US" dirty="0"/>
              <a:t>종류 결정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769015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07003E-5B17-3FF7-5B35-B3F17DC3482A}"/>
              </a:ext>
            </a:extLst>
          </p:cNvPr>
          <p:cNvSpPr txBox="1"/>
          <p:nvPr/>
        </p:nvSpPr>
        <p:spPr>
          <a:xfrm>
            <a:off x="422856" y="647443"/>
            <a:ext cx="2755606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 Prompt </a:t>
            </a:r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144DF-B196-1B68-A0E9-B0E787772E4E}"/>
              </a:ext>
            </a:extLst>
          </p:cNvPr>
          <p:cNvSpPr txBox="1"/>
          <p:nvPr/>
        </p:nvSpPr>
        <p:spPr>
          <a:xfrm>
            <a:off x="3472296" y="1828800"/>
            <a:ext cx="524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_________ </a:t>
            </a:r>
            <a:r>
              <a:rPr lang="ko-KR" altLang="en-US" dirty="0"/>
              <a:t>의 결함 종류 판별하고</a:t>
            </a:r>
            <a:r>
              <a:rPr lang="en-US" altLang="ko-KR" dirty="0"/>
              <a:t>, </a:t>
            </a:r>
            <a:r>
              <a:rPr lang="ko-KR" altLang="en-US" dirty="0"/>
              <a:t>위치 표시해 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43A8F-C2F7-EF3D-259D-1EA3E498D6F7}"/>
              </a:ext>
            </a:extLst>
          </p:cNvPr>
          <p:cNvSpPr txBox="1"/>
          <p:nvPr/>
        </p:nvSpPr>
        <p:spPr>
          <a:xfrm>
            <a:off x="3472296" y="2618509"/>
            <a:ext cx="3935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이미지 파일명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웨이퍼</a:t>
            </a:r>
            <a:r>
              <a:rPr lang="en-US" altLang="ko-KR" dirty="0"/>
              <a:t>/Lot ID (JSON</a:t>
            </a:r>
            <a:r>
              <a:rPr lang="ko-KR" altLang="en-US" dirty="0"/>
              <a:t>의 </a:t>
            </a:r>
            <a:r>
              <a:rPr lang="en-US" altLang="ko-KR" dirty="0" err="1"/>
              <a:t>defect_id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5626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B3087-BC42-B678-15C9-7F88CB1893A9}"/>
              </a:ext>
            </a:extLst>
          </p:cNvPr>
          <p:cNvSpPr txBox="1"/>
          <p:nvPr/>
        </p:nvSpPr>
        <p:spPr>
          <a:xfrm>
            <a:off x="422856" y="647443"/>
            <a:ext cx="783784" cy="453449"/>
          </a:xfrm>
          <a:prstGeom prst="rect">
            <a:avLst/>
          </a:prstGeom>
          <a:noFill/>
        </p:spPr>
        <p:txBody>
          <a:bodyPr wrap="none" lIns="83302" tIns="41652" rIns="83302" bIns="41652" rtlCol="0">
            <a:spAutoFit/>
          </a:bodyPr>
          <a:lstStyle/>
          <a:p>
            <a:r>
              <a:rPr lang="ko-KR" altLang="en-US" sz="24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  <a:endParaRPr lang="en-US" altLang="ko-KR" sz="24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CAD7C-815C-A138-5B98-639E6776B3AA}"/>
              </a:ext>
            </a:extLst>
          </p:cNvPr>
          <p:cNvSpPr txBox="1"/>
          <p:nvPr/>
        </p:nvSpPr>
        <p:spPr>
          <a:xfrm>
            <a:off x="623455" y="1631373"/>
            <a:ext cx="10422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실현 가능</a:t>
            </a:r>
            <a:r>
              <a:rPr lang="en-US" altLang="ko-KR" b="1" dirty="0"/>
              <a:t>…?</a:t>
            </a:r>
          </a:p>
          <a:p>
            <a:pPr lvl="1"/>
            <a:r>
              <a:rPr lang="en-US" altLang="ko-KR" dirty="0"/>
              <a:t>→ SAM</a:t>
            </a:r>
            <a:r>
              <a:rPr lang="ko-KR" altLang="en-US" dirty="0"/>
              <a:t> 대신 </a:t>
            </a:r>
            <a:r>
              <a:rPr lang="en-US" altLang="ko-KR" dirty="0"/>
              <a:t>SAM3 </a:t>
            </a:r>
            <a:r>
              <a:rPr lang="ko-KR" altLang="en-US" dirty="0"/>
              <a:t>넣어서 과정 간결화</a:t>
            </a:r>
            <a:endParaRPr lang="en-US" altLang="ko-KR" dirty="0"/>
          </a:p>
          <a:p>
            <a:pPr lvl="1"/>
            <a:r>
              <a:rPr lang="ko-KR" altLang="ko-KR" dirty="0"/>
              <a:t>→</a:t>
            </a:r>
            <a:r>
              <a:rPr lang="en-US" altLang="ko-KR" dirty="0"/>
              <a:t> Segmentation</a:t>
            </a:r>
            <a:r>
              <a:rPr lang="ko-KR" altLang="en-US" dirty="0"/>
              <a:t>하고 </a:t>
            </a:r>
            <a:r>
              <a:rPr lang="en-US" altLang="ko-KR" dirty="0"/>
              <a:t>defect </a:t>
            </a:r>
            <a:r>
              <a:rPr lang="ko-KR" altLang="en-US" dirty="0"/>
              <a:t>종류 판별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5877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256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ac77e30-ce82-4627-9112-d4058db49237">
      <Terms xmlns="http://schemas.microsoft.com/office/infopath/2007/PartnerControls"/>
    </lcf76f155ced4ddcb4097134ff3c332f>
    <_ip_UnifiedCompliancePolicyProperties xmlns="http://schemas.microsoft.com/sharepoint/v3" xsi:nil="true"/>
    <TaxCatchAll xmlns="fd12a1fa-1c65-4e59-9062-539a6b2ae752" xsi:nil="true"/>
    <_Flow_SignoffStatus xmlns="2ac77e30-ce82-4627-9112-d4058db49237" xsi:nil="true"/>
    <_xce21__xc815__xc124__xbe44_ xmlns="2ac77e30-ce82-4627-9112-d4058db49237">
      <Value>P3F CAMELLIA2</Value>
    </_xce21__xc815__xc124__xbe44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A38F65F38900A4395012CFDCF73A6E0" ma:contentTypeVersion="23" ma:contentTypeDescription="새 문서를 만듭니다." ma:contentTypeScope="" ma:versionID="12ee0e41f0ea690d48339b2e7b6e390c">
  <xsd:schema xmlns:xsd="http://www.w3.org/2001/XMLSchema" xmlns:xs="http://www.w3.org/2001/XMLSchema" xmlns:p="http://schemas.microsoft.com/office/2006/metadata/properties" xmlns:ns1="http://schemas.microsoft.com/sharepoint/v3" xmlns:ns2="2ac77e30-ce82-4627-9112-d4058db49237" xmlns:ns3="fd12a1fa-1c65-4e59-9062-539a6b2ae752" targetNamespace="http://schemas.microsoft.com/office/2006/metadata/properties" ma:root="true" ma:fieldsID="0d26f5ff70907c31e9fa6ec1ad6cba15" ns1:_="" ns2:_="" ns3:_="">
    <xsd:import namespace="http://schemas.microsoft.com/sharepoint/v3"/>
    <xsd:import namespace="2ac77e30-ce82-4627-9112-d4058db49237"/>
    <xsd:import namespace="fd12a1fa-1c65-4e59-9062-539a6b2ae7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Flow_SignoffStatu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_xce21__xc815__xc124__xbe44_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통합 준수 정책 속성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통합 준수 정책 UI 작업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c77e30-ce82-4627-9112-d4058db49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Flow_SignoffStatus" ma:index="10" nillable="true" ma:displayName="사인 오프 상태" ma:internalName="_xc0ac__xc778__x0020__xc624__xd504__x0020__xc0c1__xd0dc_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5" nillable="true" ma:taxonomy="true" ma:internalName="lcf76f155ced4ddcb4097134ff3c332f" ma:taxonomyFieldName="MediaServiceImageTags" ma:displayName="이미지 태그" ma:readOnly="false" ma:fieldId="{5cf76f15-5ced-4ddc-b409-7134ff3c332f}" ma:taxonomyMulti="true" ma:sspId="1810d4f8-e228-4eb6-8de4-df9f2916e8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ce21__xc815__xc124__xbe44_" ma:index="27" nillable="true" ma:displayName="측정설비" ma:default="P3F CAMELLIA2" ma:description="두께 분석 시 사용한 설비 Line" ma:format="Dropdown" ma:internalName="_xce21__xc815__xc124__xbe44_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P3F CAMELLIA2"/>
                    <xsd:enumeration value="P3F CAMELLIA2"/>
                    <xsd:enumeration value="선택 항목 3"/>
                  </xsd:restriction>
                </xsd:simpleType>
              </xsd:element>
            </xsd:sequence>
          </xsd:extension>
        </xsd:complexContent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2a1fa-1c65-4e59-9062-539a6b2ae75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cc3f72b6-7e22-4ab0-8d60-9433b69296bc}" ma:internalName="TaxCatchAll" ma:showField="CatchAllData" ma:web="fd12a1fa-1c65-4e59-9062-539a6b2ae7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BD7A18-C6CE-4C22-A5E4-5FCCB4B56C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AEF9E6-9D1C-4173-9ECB-85D9E12A8D1F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2ac77e30-ce82-4627-9112-d4058db49237"/>
    <ds:schemaRef ds:uri="fd12a1fa-1c65-4e59-9062-539a6b2ae752"/>
    <ds:schemaRef ds:uri="http://purl.org/dc/terms/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5940F8D-070D-494F-9999-BF7834BFAC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c77e30-ce82-4627-9112-d4058db49237"/>
    <ds:schemaRef ds:uri="fd12a1fa-1c65-4e59-9062-539a6b2ae7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23739</TotalTime>
  <Words>501</Words>
  <Application>Microsoft Office PowerPoint</Application>
  <PresentationFormat>와이드스크린</PresentationFormat>
  <Paragraphs>123</Paragraphs>
  <Slides>16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Cambria Math</vt:lpstr>
      <vt:lpstr>Helvetica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차지혜</dc:creator>
  <cp:lastModifiedBy>정희진</cp:lastModifiedBy>
  <cp:revision>874</cp:revision>
  <dcterms:created xsi:type="dcterms:W3CDTF">2019-08-26T06:05:08Z</dcterms:created>
  <dcterms:modified xsi:type="dcterms:W3CDTF">2026-01-14T06:16:46Z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0x0101001A38F65F38900A4395012CFDCF73A6E0</vt:lpwstr>
  </property>
  <property fmtid="{D5CDD505-2E9C-101B-9397-08002B2CF9AE}" pid="3" name="MediaServiceImageTags">
    <vt:lpwstr/>
  </property>
</Properties>
</file>